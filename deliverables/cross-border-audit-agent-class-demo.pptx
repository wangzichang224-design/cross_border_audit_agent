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51960867bf49a0" /><Relationship Type="http://schemas.openxmlformats.org/officeDocument/2006/relationships/extended-properties" Target="/docProps/app.xml" Id="Rea4afb175be54f30" /><Relationship Type="http://schemas.openxmlformats.org/officeDocument/2006/relationships/officeDocument" Target="/ppt/presentation.xml" Id="Rdc50e3a1c4b544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585c91ed354bb5"/>
  </p:sldMasterIdLst>
  <p:notesMasterIdLst>
    <p:notesMasterId xmlns:r="http://schemas.openxmlformats.org/officeDocument/2006/relationships" r:id="Rf3134bec1ab843e8"/>
  </p:notesMasterIdLst>
  <p:sldIdLst>
    <p:sldId xmlns:r="http://schemas.openxmlformats.org/officeDocument/2006/relationships" id="256" r:id="R0bda7c5f0d534ce1"/>
    <p:sldId xmlns:r="http://schemas.openxmlformats.org/officeDocument/2006/relationships" id="257" r:id="R6295e35440e34d2c"/>
    <p:sldId xmlns:r="http://schemas.openxmlformats.org/officeDocument/2006/relationships" id="258" r:id="Rc801c53f8edc44fb"/>
    <p:sldId xmlns:r="http://schemas.openxmlformats.org/officeDocument/2006/relationships" id="259" r:id="R7ca082865813405c"/>
    <p:sldId xmlns:r="http://schemas.openxmlformats.org/officeDocument/2006/relationships" id="260" r:id="R17082b02e47a47f6"/>
    <p:sldId xmlns:r="http://schemas.openxmlformats.org/officeDocument/2006/relationships" id="261" r:id="Rf1e4e75a8da84aa1"/>
    <p:sldId xmlns:r="http://schemas.openxmlformats.org/officeDocument/2006/relationships" id="262" r:id="R4fbd9030d00f49b7"/>
    <p:sldId xmlns:r="http://schemas.openxmlformats.org/officeDocument/2006/relationships" id="263" r:id="Rc774dcce1b1a4b6a"/>
    <p:sldId xmlns:r="http://schemas.openxmlformats.org/officeDocument/2006/relationships" id="264" r:id="R4d5a6bb3b4c04e1a"/>
    <p:sldId xmlns:r="http://schemas.openxmlformats.org/officeDocument/2006/relationships" id="265" r:id="Rc6dc6641c48d4cc3"/>
    <p:sldId xmlns:r="http://schemas.openxmlformats.org/officeDocument/2006/relationships" id="266" r:id="Ra70868d92fb349ed"/>
    <p:sldId xmlns:r="http://schemas.openxmlformats.org/officeDocument/2006/relationships" id="267" r:id="R8bee6f4cd2964fe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6d0afe3d154d65" /><Relationship Type="http://schemas.openxmlformats.org/officeDocument/2006/relationships/slideMaster" Target="/ppt/slideMasters/slideMaster1.xml" Id="R80585c91ed354bb5" /><Relationship Type="http://schemas.openxmlformats.org/officeDocument/2006/relationships/notesMaster" Target="/ppt/notesMasters/notesMaster1.xml" Id="Rf3134bec1ab843e8" /><Relationship Type="http://schemas.openxmlformats.org/officeDocument/2006/relationships/presProps" Target="/ppt/presProps.xml" Id="R0460bdea0b7d4e3e" /><Relationship Type="http://schemas.openxmlformats.org/officeDocument/2006/relationships/viewProps" Target="/ppt/viewProps.xml" Id="R0e80b3eae48a4de0" /><Relationship Type="http://schemas.openxmlformats.org/officeDocument/2006/relationships/tableStyles" Target="/ppt/tableStyles.xml" Id="R1889094ba2834ba3" /><Relationship Type="http://schemas.openxmlformats.org/officeDocument/2006/relationships/slide" Target="/ppt/slides/slide1.xml" Id="R0bda7c5f0d534ce1" /><Relationship Type="http://schemas.openxmlformats.org/officeDocument/2006/relationships/slide" Target="/ppt/slides/slide2.xml" Id="R6295e35440e34d2c" /><Relationship Type="http://schemas.openxmlformats.org/officeDocument/2006/relationships/slide" Target="/ppt/slides/slide3.xml" Id="Rc801c53f8edc44fb" /><Relationship Type="http://schemas.openxmlformats.org/officeDocument/2006/relationships/slide" Target="/ppt/slides/slide4.xml" Id="R7ca082865813405c" /><Relationship Type="http://schemas.openxmlformats.org/officeDocument/2006/relationships/slide" Target="/ppt/slides/slide5.xml" Id="R17082b02e47a47f6" /><Relationship Type="http://schemas.openxmlformats.org/officeDocument/2006/relationships/slide" Target="/ppt/slides/slide6.xml" Id="Rf1e4e75a8da84aa1" /><Relationship Type="http://schemas.openxmlformats.org/officeDocument/2006/relationships/slide" Target="/ppt/slides/slide7.xml" Id="R4fbd9030d00f49b7" /><Relationship Type="http://schemas.openxmlformats.org/officeDocument/2006/relationships/slide" Target="/ppt/slides/slide8.xml" Id="Rc774dcce1b1a4b6a" /><Relationship Type="http://schemas.openxmlformats.org/officeDocument/2006/relationships/slide" Target="/ppt/slides/slide9.xml" Id="R4d5a6bb3b4c04e1a" /><Relationship Type="http://schemas.openxmlformats.org/officeDocument/2006/relationships/slide" Target="/ppt/slides/slide10.xml" Id="Rc6dc6641c48d4cc3" /><Relationship Type="http://schemas.openxmlformats.org/officeDocument/2006/relationships/slide" Target="/ppt/slides/slide11.xml" Id="Ra70868d92fb349ed" /><Relationship Type="http://schemas.openxmlformats.org/officeDocument/2006/relationships/slide" Target="/ppt/slides/slide12.xml" Id="R8bee6f4cd2964f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23023a609146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b00bc57dc04c30" /><Relationship Type="http://schemas.openxmlformats.org/officeDocument/2006/relationships/notesMaster" Target="/ppt/notesMasters/notesMaster1.xml" Id="R856ff60827224c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f3c23e84dc4331" /><Relationship Type="http://schemas.openxmlformats.org/officeDocument/2006/relationships/notesMaster" Target="/ppt/notesMasters/notesMaster1.xml" Id="R6addd8937b2147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606cf7ef864be2" /><Relationship Type="http://schemas.openxmlformats.org/officeDocument/2006/relationships/notesMaster" Target="/ppt/notesMasters/notesMaster1.xml" Id="R259d45cac22a47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6f0a68206543f6" /><Relationship Type="http://schemas.openxmlformats.org/officeDocument/2006/relationships/notesMaster" Target="/ppt/notesMasters/notesMaster1.xml" Id="Rb8dc809b9c6047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90e9907e4f4edd" /><Relationship Type="http://schemas.openxmlformats.org/officeDocument/2006/relationships/notesMaster" Target="/ppt/notesMasters/notesMaster1.xml" Id="Rc0a04fafca6d4e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6f334123a644ef" /><Relationship Type="http://schemas.openxmlformats.org/officeDocument/2006/relationships/notesMaster" Target="/ppt/notesMasters/notesMaster1.xml" Id="R81c547cc63d943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80ee26986f4096" /><Relationship Type="http://schemas.openxmlformats.org/officeDocument/2006/relationships/notesMaster" Target="/ppt/notesMasters/notesMaster1.xml" Id="R8fc410920e2d4e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212155b0b0486d" /><Relationship Type="http://schemas.openxmlformats.org/officeDocument/2006/relationships/notesMaster" Target="/ppt/notesMasters/notesMaster1.xml" Id="Rad1d1f01c40f445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84d0d779a9b49e9" /><Relationship Type="http://schemas.openxmlformats.org/officeDocument/2006/relationships/notesMaster" Target="/ppt/notesMasters/notesMaster1.xml" Id="R7ef391d3061641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72c237b6da46df" /><Relationship Type="http://schemas.openxmlformats.org/officeDocument/2006/relationships/notesMaster" Target="/ppt/notesMasters/notesMaster1.xml" Id="R2467be408a4c46e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8fa82ce4bba44e2" /><Relationship Type="http://schemas.openxmlformats.org/officeDocument/2006/relationships/notesMaster" Target="/ppt/notesMasters/notesMaster1.xml" Id="Rc83c7ffda8834de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0ebbac12bbe4fc3" /><Relationship Type="http://schemas.openxmlformats.org/officeDocument/2006/relationships/notesMaster" Target="/ppt/notesMasters/notesMaster1.xml" Id="R474e46f5350d48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6451489cda40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fd608744d548e1" /><Relationship Type="http://schemas.openxmlformats.org/officeDocument/2006/relationships/slideLayout" Target="/ppt/slideLayouts/slideLayout1.xml" Id="Re59ccf0f053c4b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9ccf0f053c4b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9420b2e99440b7" /><Relationship Type="http://schemas.openxmlformats.org/officeDocument/2006/relationships/image" Target="/ppt/media/image.png" Id="Ra7029f3193da45d3" /><Relationship Type="http://schemas.openxmlformats.org/officeDocument/2006/relationships/notesSlide" Target="/ppt/notesSlides/notesSlide1.xml" Id="R8a4e1c65e5a14c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fdea086ea64aaf" /><Relationship Type="http://schemas.openxmlformats.org/officeDocument/2006/relationships/image" Target="/ppt/media/image2.png" Id="R229799aa954044f3" /><Relationship Type="http://schemas.openxmlformats.org/officeDocument/2006/relationships/notesSlide" Target="/ppt/notesSlides/notesSlide2.xml" Id="Rbda6bc0b4a4d46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27add93e2e4441" /><Relationship Type="http://schemas.openxmlformats.org/officeDocument/2006/relationships/notesSlide" Target="/ppt/notesSlides/notesSlide3.xml" Id="Rb12b1eab3c7042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6d59e421cf4836" /><Relationship Type="http://schemas.openxmlformats.org/officeDocument/2006/relationships/notesSlide" Target="/ppt/notesSlides/notesSlide4.xml" Id="R222d4bdce01d4f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c1f64d46043f0" /><Relationship Type="http://schemas.openxmlformats.org/officeDocument/2006/relationships/notesSlide" Target="/ppt/notesSlides/notesSlide5.xml" Id="Rd89addae5b3a41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f0bf555d5e465c" /><Relationship Type="http://schemas.openxmlformats.org/officeDocument/2006/relationships/notesSlide" Target="/ppt/notesSlides/notesSlide6.xml" Id="R1a5aa872dfe840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dc1ec2bc0c4c7a" /><Relationship Type="http://schemas.openxmlformats.org/officeDocument/2006/relationships/notesSlide" Target="/ppt/notesSlides/notesSlide7.xml" Id="R890ee8f290b54c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42b0a215e45d2" /><Relationship Type="http://schemas.openxmlformats.org/officeDocument/2006/relationships/notesSlide" Target="/ppt/notesSlides/notesSlide8.xml" Id="R908c0d4f193f40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6fd21f92a4c1d" /><Relationship Type="http://schemas.openxmlformats.org/officeDocument/2006/relationships/image" Target="/ppt/media/image3.png" Id="R5f52f88055cb4981" /><Relationship Type="http://schemas.openxmlformats.org/officeDocument/2006/relationships/notesSlide" Target="/ppt/notesSlides/notesSlide9.xml" Id="R242cadfbfa0046e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d53a5f8e61478e" /><Relationship Type="http://schemas.openxmlformats.org/officeDocument/2006/relationships/notesSlide" Target="/ppt/notesSlides/notesSlide10.xml" Id="R78da7bf16963486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64651140ac4143" /><Relationship Type="http://schemas.openxmlformats.org/officeDocument/2006/relationships/notesSlide" Target="/ppt/notesSlides/notesSlide11.xml" Id="Re6b5a6e80f2c460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26e3fc687a4440" /><Relationship Type="http://schemas.openxmlformats.org/officeDocument/2006/relationships/image" Target="/ppt/media/image4.png" Id="Rd12edb0fc08b4d0a" /><Relationship Type="http://schemas.openxmlformats.org/officeDocument/2006/relationships/notesSlide" Target="/ppt/notesSlides/notesSlide12.xml" Id="R1eb8e1c14605491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CDC69F-F377-4C4E-B368-EC811B47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029f3193da45d3"/>
          <a:stretch xmlns:a="http://schemas.openxmlformats.org/drawingml/2006/main"/>
        </p:blipFill>
        <p:spPr>
          <a:xfrm xmlns:a="http://schemas.openxmlformats.org/drawingml/2006/main">
            <a:off x="590550" y="526256"/>
            <a:ext cx="5334000" cy="150018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A8737F-A32F-470C-B229-5DD22579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8191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跨境电商资金流 AI 审计系统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6F5FE4-4494-4F8E-9541-3997791F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9900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FDB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FDBFE"/>
                </a:solidFill>
                <a:latin typeface="Microsoft YaHei"/>
                <a:ea typeface="Microsoft YaHei"/>
                <a:cs typeface="Microsoft YaHei"/>
              </a:rPr>
              <a:t>数字金融课堂展示 · 两人讲解 · 现场打开局域网前端演示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634E2-5531-4768-87C9-BCE6D1ED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4876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F33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8EF953-4E38-4020-A056-039B0AED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rPr>
              <a:t>演示地址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81F253-BE37-4B3D-842B-6AA24D1D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419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http://10.5.52.230:8501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BEBCD2-19C0-4BC9-A210-7E47544C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052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926A95-E684-4F45-8FC7-213813DF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981450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Speaker A：问题与系统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DD419E-585E-49C8-BBC9-DC5F3BB9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052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76028E-BA13-4E9C-8DCD-AEBAD3BC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981450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rPr>
              <a:t>Speaker B：架构与范式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120EB3-76DA-449F-9B22-19952CDB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开场先演示资金流审计流水线：自动生成演示数据、执行规则扫描、调用 DeepSeek/离线分析，并输出风险发现和审计报告。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5FA04E-5489-4E81-9C7B-82BB0FEE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Cross-Border Audit Agent · 数字金融课堂展示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89C3B4-1A9D-44CB-9B51-E79B5F76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547640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4E84B8-E79E-4059-A367-712C725F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6E97BE-2DF1-40D9-B1D2-C0B59F82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LIVE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DAD03A-28FA-425B-80AD-FA672465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858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先打开跨境电商资金流审计系统，让同学看到真实流水线。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A74D4B-A439-47F2-BAC3-892A239F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619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Speaker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4C617E-9B4A-478C-BB48-6BFAF986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9799aa954044f3"/>
          <a:stretch xmlns:a="http://schemas.openxmlformats.org/drawingml/2006/main"/>
        </p:blipFill>
        <p:spPr>
          <a:xfrm xmlns:a="http://schemas.openxmlformats.org/drawingml/2006/main">
            <a:off x="704850" y="1524000"/>
            <a:ext cx="6934200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D4606D-E09E-450E-901A-10AAB2DF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81150"/>
            <a:ext cx="3143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1C7D6E-7557-4FAE-B7FF-803479CE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811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7CE74A-E30C-4B34-B0D7-EA5007BA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33550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课堂动作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63324A-D7B9-4A05-969C-8B0A4F2D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38350"/>
            <a:ext cx="28003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1. 打开封面 IP 地址</a:t>
            </a:r>
          </a:p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2. 左侧选择演示数据</a:t>
            </a:r>
          </a:p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3. 点击“开始审计”</a:t>
            </a:r>
          </a:p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4. 展示风险发现、AI 叙述和下载区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6B9C0D-312B-4593-988F-C2452289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71850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B6FF2F-71B9-4416-879C-D4E9188B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718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714B9D-CB1B-4A33-A792-E0D5B399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24250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这版演示是什么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FA3357-D9E7-4A07-BA4E-9621C318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29050"/>
            <a:ext cx="2800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跨境电商资金流审计 Agent：模拟 Anker 风格交易流水，覆盖平台收入、广告、退款、FX、ERP 缺口等异常。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3EF966-0D9E-4153-AB7C-DC257152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815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CB30AD-C16F-47C2-B213-B2C794F6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8155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2DC596-8751-42FE-9ADD-E31E0745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933950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演示边界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EB7321-4894-48C0-83B8-05F79EE2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238750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课堂使用合成交易数据；真实客户资料需要先脱敏，或放在私有化模型和权限环境里处理。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FCAE33-9863-4E28-B467-299674F0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Cross-Border Audit Agent · 数字金融课堂展示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F4B31B-BD49-469C-9C2B-C690A49E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2130455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5AB994-149A-4C68-A312-F77BE667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1E3527-C2E6-4954-978A-F56CE93A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PERSONAL STARTING 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44B517-EA7E-4CB6-B365-5013923F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858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最初做的就是跨境电商资金审计 Agent：能跑，但可信度还不够。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B4D09B-7FF1-4679-A36D-A900D0B1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619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Speaker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0E2E0F-1738-4A67-8118-94CDB1E6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2C45D1-9C09-458C-9810-D09F3C04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5926BA-CA52-4436-B37F-8F3830D8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812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504D96-96F1-4778-A671-15504070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8120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第一版：多 Agent + 前端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AB9720-D627-489A-B5A6-5CDC1B04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25908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前端选择演示数据或上传 CSV，后端生成交易流水、跑规则、再给出 AI 审计叙述。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C8AB7D-1C93-4934-8970-78CDB462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7175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6DF7C8-8453-4173-91AE-4D686090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6690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AB9E50-ECCA-4740-959B-197D8CCA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812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88EFBE-512B-44CB-B9A0-0CF391DE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98120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发现问题：结论像真的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78A223-1D1D-45CF-B643-3833E078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24100"/>
            <a:ext cx="25908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模型说一笔交易有风险，但很难知道它基于哪条规则、哪段材料、哪个字段。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594F60-CCB6-45DC-8456-E6EC068C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7175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54C70F-D7FB-4152-B56A-AF02256B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86690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75B58C-E4C9-4A27-9F52-AF68A2B1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812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8A742A-0507-47BA-A13D-A9A3E473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8120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课堂展示：资金流主线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53B8DE-D784-4FD9-94D8-85C2EAAD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24100"/>
            <a:ext cx="25908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这次展示聚焦跨境电商平台流水、规则异常、AI 审计叙述和人工复核。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A27898-585C-4C5C-9DDE-32647A71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96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1BC75D-1B4B-404A-B328-1689608E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48250"/>
            <a:ext cx="781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能跑不等于能进高责任场景；财务 AI 的门槛不是“会回答”，而是“能被复核”。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C957BE-42D0-454C-8A84-FE8B2AD1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Cross-Border Audit Agent · 数字金融课堂展示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7FA3C4-EA1B-4785-AA25-817680EC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073804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4E61C2-822F-4579-90C1-4AE9E542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80CA1C-0870-4BC9-A8FC-C7614D22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HARD QUESTION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4C0A04-B670-46B9-BB85-F494D4C1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858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一个风险结论如果不能回答三个问题，就不能进入审计流程。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B05129-5416-47F7-8E90-FEFDC5AA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619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Speaker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C877A9-201D-4CD0-AE81-2AE0E3D6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DE61CF-9808-4C33-85FE-6BEF4916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66900"/>
            <a:ext cx="2952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7DC210-B4C5-4AF1-9778-09E4AE33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6690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FE5E84-31A9-4706-B9B0-F5B85C15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19300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这个结论从哪里来？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010762-D61E-4A30-A2EE-3FC0CBA4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26098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需要看到原始字段、命中的规则、引用的材料片段，而不是只看一段自然语言判断。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F9471D-6B88-4525-A6A8-439E1091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66900"/>
            <a:ext cx="2952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A57B73-7A9E-4334-992B-7706A540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6690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FCBD58-AF07-4B2A-9932-6D2053BB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19300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中间哪一步错了？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B50803-4E6C-424D-89F2-99A74B7A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24100"/>
            <a:ext cx="26098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错误可能来自数据提取、规则理解、RAG 检索、模型推理或最终汇总，必须能定位。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83C3DD-B5FD-427E-8CE1-50F28688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66900"/>
            <a:ext cx="2952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C15ED5-BD65-47FC-AE2D-F31CF798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6690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0E0E2F-C7CA-4DFB-B247-1A5947E0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19300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审计人员怎么复核？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33ADBD-A9D8-4954-A272-EB579222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26098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输出必须告诉复核人哪些证据充分、哪些证据缺口、哪些地方需要追加程序。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0AB616-E03A-428D-8D19-D6936F6B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6250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BCF3BD-8B61-414C-849C-5D89F54F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6250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B54780-4299-4690-BC51-CB137AF3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14900"/>
            <a:ext cx="7753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最初多 Agent 的结构性问题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8E0259-6B9E-48AD-8CAF-65EB0348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19700"/>
            <a:ext cx="7753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每个 Agent 都在生成自然语言，输出链路很长；一旦结论错了，很难判断是提取错、检索错、理解错，还是汇总时把语气写得太确定。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516BF6-50ED-4094-87AD-7D533366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Cross-Border Audit Agent · 数字金融课堂展示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B589BC-DEA5-4CC2-9603-00F015FF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1860181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32F17F-A976-4D0B-A1F6-24673A9F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83026A-5AA3-4B5B-87F2-93C2DC52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WHITE BOX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B01892-F912-4C59-84E3-5DBC8DB7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858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财务 AI 的第一原则：黑盒必须变成白盒。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157CCF-80EC-4579-A31B-EEC93D8A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619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Speaker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962A06-71AA-4DF6-A8B5-896B717E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6AC3D3-A6A4-4010-81D9-2312DBB4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809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B1DDC3-D39D-4E23-8F58-D3C49345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29F590-C95B-414A-9198-DB2C2690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52675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用了什么数据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10C73E-0B0F-4C4B-93E0-CB4630A2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字段、表名、期间、金额口径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0799B7-5C00-44B6-BE4F-EDE72127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09750"/>
            <a:ext cx="1809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0583E0-FAE3-4EDC-9107-13F71C3B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952625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403EBA-D7C3-46DD-959D-953F03B0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52675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命中哪条规则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B105D0-2476-4AC0-97A5-74741797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47950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准则、制度、阈值、例外条件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EFD2B6-DDA8-4904-A799-507A4140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09750"/>
            <a:ext cx="1809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880B2B-70E9-4981-817B-DAE8273F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52625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9903D2-FC9A-493F-9565-D6698302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52675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引用哪段证据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11001F-35A9-4292-B2F5-509C5393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47950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原始材料片段和来源路径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0CF9DA-F481-47A6-9875-B748912D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809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BBA5B8-66CF-49F6-80A4-F58BC545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952625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AB91A6-1DFA-4684-AD4C-03020C74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52675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置信度与缺口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BA018E-DF6B-4126-965E-0C9CC7B0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47950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低置信度原因和缺失材料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530B84-9D2B-4A40-B685-7B4488CC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09750"/>
            <a:ext cx="1809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16DCCB-51D7-4FBD-BF67-94A5881D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952625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FBC01E-5830-4235-BA82-936C2713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52675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哪里人工复核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369233-AD8C-4450-9F0B-701B39E7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47950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复核动作、责任人、留痕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7B471F-100D-4C1B-940F-FB9FCABF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67150"/>
            <a:ext cx="8953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CE44A0-E9B5-4A37-9860-53FCFBEC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95750"/>
            <a:ext cx="809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审计和报销审核本质上都是高责任场景。AI 不能只给结论，必须把判断过程拆开，让人能追溯、能质疑、能复核。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8F2E9C-066E-405A-A9FC-4FC83239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43500"/>
            <a:ext cx="723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536B06-7B4F-4928-A905-A4A20135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4350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BA912B-8ED7-4520-AE19-EAF3158A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295900"/>
            <a:ext cx="689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一句话讲法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99A062-41B8-4210-B14D-1B049112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600700"/>
            <a:ext cx="6896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财务 AI 不是把专业判断交给模型，而是让模型先做材料整理、证据引用和初步判断，再把低确定性的部分交还给人。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27C838-082D-4B21-9A96-70C6A19F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Cross-Border Audit Agent · 数字金融课堂展示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624193-7D1D-4082-91CF-03FEC6B0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5395520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51CCC9-E065-44ED-9510-81A86623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2634DE-5EC4-4992-B5DD-874CACB9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WORKFLOW FIRST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48FCB6-32AA-4F1A-8113-D4CA6BA9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858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在财务场景里，Workflow 通常优于完全自主 Agent。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08890F-456B-4CA2-BB40-55331FB4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619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Speaker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744F81-589C-4B80-A1CB-EE020046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FC4F98-3549-426C-AB7C-7B649009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12763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18AE3A-EC7B-40AB-A138-137AA269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0B5874-3513-4801-9BDA-4886AEC4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4785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数据摄入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E57FCF-1AD6-4607-A4DA-9248E36D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009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演示/CSV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7DCD19-D360-49B2-97E1-20FDB500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133600"/>
            <a:ext cx="28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23C20F-559B-4CA1-AB97-C240F0C3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733550"/>
            <a:ext cx="12763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88C19F-631B-474B-B2C3-9B76315B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8478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C67B72-D3A6-4907-9292-B9C7B927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84785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清洗评分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84CC12-8634-4C9B-96EE-15A62A7D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190750"/>
            <a:ext cx="1009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缺失/重复/FX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D862BE-7757-49E7-8800-006EC0DE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33600"/>
            <a:ext cx="28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6E8D5E-7BAF-49E1-BDD0-D2A0B217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33550"/>
            <a:ext cx="12763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951F1E-E832-4752-ADF6-8A42FFB6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8478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A247B9-D510-46D1-A2D5-3A0B688C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84785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规则扫描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DC0B13-7A3C-40C1-A53D-8A4394F5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190750"/>
            <a:ext cx="1009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ISA 240/520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8E289F-BA2F-4727-BB91-F8F620B5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33600"/>
            <a:ext cx="28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04C1C8-D5A7-43F5-B9FA-219DF39F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33550"/>
            <a:ext cx="12763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746AE9-5720-4EB6-9C3B-87264F03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8478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C0278C-0344-4DC3-882E-18CE3C99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4785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AI 分析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1BCAE5-BED0-4EE0-8D95-D6C70197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90750"/>
            <a:ext cx="1009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DeepSeek/离线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9CADB4-2CC0-4001-8E36-B6F4985E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33600"/>
            <a:ext cx="28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3D4D8C-77DB-4BB7-88D4-DFB75A6D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733550"/>
            <a:ext cx="12763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C11FC3-5FE4-4CBE-871A-AA97B71D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478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4AEF7C-36A6-4714-A233-82398341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84785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资金核对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519517-5C61-4FC9-9F92-590DAEBC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90750"/>
            <a:ext cx="1009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应收/实收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EB1400-674E-4ADA-9D6B-58DFE23E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33600"/>
            <a:ext cx="28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98B31A-CB2D-4E7A-B634-92CF55F9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33550"/>
            <a:ext cx="12763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2E4C2C-9263-4608-BAE7-1B2FA873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478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6C169B-CDF5-47E6-AF0F-92813BA5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4785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报告生成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D9B38A-B146-4F99-A6A2-E2C58A67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90750"/>
            <a:ext cx="1009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图表/Markdown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3223C3-F60A-4332-B6B3-7701140D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133600"/>
            <a:ext cx="28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8A4A70-92DA-48EF-B7D5-46FE4686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733550"/>
            <a:ext cx="12763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BD3A6E-FE8E-475E-A634-A8BACD05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8478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6C80C07-05EB-4570-8AC2-7154E8C3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84785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人工复核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8E3289-C0CB-468A-835A-93EA2155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190750"/>
            <a:ext cx="1009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高风险兜底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4C25BC-A6F5-4EDA-8DB0-C463A131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57600"/>
            <a:ext cx="4095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ECC7D7-9580-4E0F-A545-5F3B5079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576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7FFC198-DEB9-4A61-913C-F6215C7E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10000"/>
            <a:ext cx="3752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Agent 的位置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2CF0B51-4CDE-44DA-A1E3-BC27C90E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14800"/>
            <a:ext cx="3752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Agent 只在风险解释、补充发现、合规分析等节点做智能任务；交易清洗和规则扫描仍由确定性代码承担。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79BB656-B163-47DD-A372-6CDCD52A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38550"/>
            <a:ext cx="4953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6E1B24-EDEE-41FE-9DDA-DAAE34C7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62400"/>
            <a:ext cx="4267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财务 AI 不是让模型自由发挥，而是把模型的不确定性，关进一个确定性的流程里。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25E23B1-63D7-428E-AEAB-292D401A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Cross-Border Audit Agent · 数字金融课堂展示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A30AC33-FD52-407C-A91C-6AEB0286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309380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DAA210-56ED-4210-9C48-C8FF653F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B30FAC-1436-4525-86C7-FA9F886A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WHY NOT FULL AUTO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82F356-559A-49EF-AB40-6221D2B3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858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全流程自动化很难，因为三件事绕不开。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5CA247-415C-4196-8EB8-CCBE7BD9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619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Speaker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2B4B19-A645-4D20-AF67-906E754B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5604A4-C9A5-4134-B3DC-5C0E2F85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2952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D322AB-11DE-4622-AC7A-D10862ED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92C7E1-23AD-468F-BDAB-3215282B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幻觉不可接受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FB28EF-3E13-495B-833B-86B4C62E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28850"/>
            <a:ext cx="26098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财务和审计不是写作场景。模型一旦把缺失证据说成确定事实，会直接影响风险判断和后续审计程序。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831353-CF38-499B-83FB-EA680755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71650"/>
            <a:ext cx="2952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F74C73-ED3A-4BC3-ADBE-D3BDE96A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7165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B876E9-6C9F-4EED-A74D-B48A0EB8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924050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数据高度保密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6B00C7-3223-454F-85FF-A50B6F13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28850"/>
            <a:ext cx="26098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真实客户材料不适合随意走远端 API 或公开 Agent 工具。更现实的方向是脱敏、权限隔离和私有化部署。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E7D759-F389-433C-8786-C4145C19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71650"/>
            <a:ext cx="2952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01F268-CA87-42BE-BC7E-660FB2DD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7165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2B4979-4476-4AFD-851A-6DCBE743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24050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责任归属必须是人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98EAC1-7CA4-425A-A97E-EB016CA1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28850"/>
            <a:ext cx="26098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Agent 可以提示高风险交易、生成分析叙述，但最终审计判断必须由审计人员复核把关。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530314-9270-494F-A0C2-CC6C959C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724400"/>
            <a:ext cx="838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562637-58AE-4C3B-8DB2-18CC06EB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991100"/>
            <a:ext cx="752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所以我不把这个项目包装成“全自动审计”，而是讲成可信辅助：降低低风险重复劳动，把关键判断留给人。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AB01D0-C9EC-4374-AEFD-72C037CC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Cross-Border Audit Agent · 数字金融课堂展示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A60586-9590-4482-AB20-C5BA0CDA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6232778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E3D065-F371-409E-A43D-0ABDBBD8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EA3E3A-D610-47FC-9AE3-6673BBF3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WHY IT STILL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68FA7-ED43-4D79-9768-7C219838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858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不能全自动，不代表没有价值：资金流异常扫描本身就值得做。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3A3324-8268-4EBC-99CD-93D579AF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619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Speaker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6C8A9-9080-4884-9A06-6C939F9A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9131C4-528A-4D00-AF6A-C6F112B9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19250"/>
            <a:ext cx="8953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EF7E19-AE9D-4896-BFD5-BBA4521B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866900"/>
            <a:ext cx="828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人做的时间 -（AI 跑流水线 + 人复核高风险项的时间）&gt; 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64083B-FC1F-4C16-A44D-A03086FD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2952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D3F650-B05B-403E-B7A8-CB611A67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7E60B6-76BF-447C-AEB6-2436DEF6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95650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最先被改造的任务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D422D8-E1F9-4F8F-B0AA-61F59A90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00450"/>
            <a:ext cx="26098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多平台流水归集、异常金额筛选、FX 转换检查、重复入账和广告投放超支扫描。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EC4632-BEC5-4653-B9CF-07AF0CC4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43250"/>
            <a:ext cx="2952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848B6F-6626-4B43-BE54-EB1CC4ED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4325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CA6CE7-B42B-4EA4-9BBF-14B8699F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95650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Harness 约束降低风险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833198-D188-4156-BC34-E6D5E270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600450"/>
            <a:ext cx="26098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用合成数据、字段 schema、规则扫描、RAG 依据和 mock/私有部署，把模型限制在可检查动作里。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AE7F52-D77F-4FA4-985C-5BD183B7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43250"/>
            <a:ext cx="2952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99D75D-BAE7-4588-B7E4-F49185FB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4325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3321D1-F2B1-4F19-962F-AC7A191F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95650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复核人兜底责任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385C8C-2202-476D-A8CD-905504F9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00450"/>
            <a:ext cx="26098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系统产出风险清单和审计叙述，审计人员复核证据、确认重大性和后续程序。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5E5595-54B0-45E8-8A4B-19C1DDD3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61975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课堂里可以把观点讲清楚：全自动审计很难，但资金流异常扫描和风险叙述可以先提升效率。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E0A821-3D6B-494C-9FED-31E83429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Cross-Border Audit Agent · 数字金融课堂展示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9EE0A5-AD1A-44C9-B807-D5B0227C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6259486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AD3B0A-0461-458D-A4D6-CF3A2E97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A9B2D1-D76C-49DF-8408-DA7485A0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CURRENT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AD4BD6-7CF9-4DF8-ADEE-7F50A5A3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858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当前项目主线：跨境电商交易流水进入规则引擎和多 Agent 审计分析。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8B9481-4384-467B-BAD6-CC760896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619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Speaker A / 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A1B9A6-D0FD-4BD6-954F-F0E004F9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A83A4A-67EE-4A32-BDE5-B8114C42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428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EFABB8-021F-4B61-9565-675C5710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8C6F1D-6605-4E22-8B1B-CD3B22E0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6690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693D6D-DA44-4417-9F5A-A036066A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162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演示/CSV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872A40-74F4-4CEA-893E-7AE2FEBD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33600"/>
            <a:ext cx="304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C3C591-311B-48CA-B479-72C973B5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752600"/>
            <a:ext cx="1428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EFE872-C0B6-4321-9E9C-BBB33767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8669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ADAA0E-5680-4730-89DD-C9FD3C48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86690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清洗评分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E169BF-7F24-483B-ACA0-81B7E555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209800"/>
            <a:ext cx="1162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质量控制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B91EE1-439B-482A-ACDF-FE68E084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133600"/>
            <a:ext cx="304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D5D1E4-C24D-4DCB-8570-ACC4A6EA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52600"/>
            <a:ext cx="1428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E0580D-FAB3-4845-B5A5-9C09CA94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669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DD340F-FEA2-4D80-B908-BB693373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6690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规则扫描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D7A963-A106-4B2B-BE98-184A10E5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09800"/>
            <a:ext cx="1162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8 类风险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B8998A-B56E-400A-A3DE-85A7C786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133600"/>
            <a:ext cx="304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560190-D47D-4E8D-A948-8ADB8027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52600"/>
            <a:ext cx="1428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667C95-F56E-41D2-97E8-670CD62E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669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331DC0-B5EC-477F-A076-C5773C8E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6690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AI 分析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028EFE-8A7E-482F-885B-99E94B77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09800"/>
            <a:ext cx="1162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DeepSeek/mock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7598E6-9BF5-48CE-96C4-4649EEF4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33600"/>
            <a:ext cx="304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3CE1EA-9BFB-4945-BFE0-96E4B14C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1428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AF086F-9DE9-49F2-8282-BF066A32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669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9CE6B3-1E96-4DDF-8FBF-6EFC5823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6690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报告输出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0A1251-FFE8-4768-AEB1-9868B53E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09800"/>
            <a:ext cx="1162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Markdown/CSV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404D50-2871-4530-9358-D1E13FF8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33600"/>
            <a:ext cx="304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D3A557-68DA-4177-91DF-DA6E3155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752600"/>
            <a:ext cx="1428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BAC387-0801-4D66-970C-E2060D8C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8669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2EB9BE-C71C-483D-A8A7-C70B6300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86690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人工复核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C4B6CA-027F-4F23-B9D7-D1768934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209800"/>
            <a:ext cx="1162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高风险留痕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52f88055cb4981"/>
          <a:stretch xmlns:a="http://schemas.openxmlformats.org/drawingml/2006/main"/>
        </p:blipFill>
        <p:spPr>
          <a:xfrm xmlns:a="http://schemas.openxmlformats.org/drawingml/2006/main">
            <a:off x="1323975" y="3676650"/>
            <a:ext cx="3200400" cy="200025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E31B73-30EC-47B1-A60F-C2B61D52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95700"/>
            <a:ext cx="16954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1E5927-B3F2-4719-AAFB-EE84FA70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838575"/>
            <a:ext cx="1352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52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6EB3F3-4E89-444F-9CD7-4E81A226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238625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tests passed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F0C131-900B-4F60-8C9F-839FAE0A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53390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pytest 验证基础链路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0F9761-A413-4E97-948F-39326ABD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95700"/>
            <a:ext cx="16954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4E32E6-A5DE-40BE-9493-EFF2EE65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38575"/>
            <a:ext cx="1352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Mock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F68580A-8F8A-4F30-B9F9-6648F1B3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238625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默认演示模式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BED01AB-AC72-450A-9453-C6CBEA4A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53390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课堂不调用远端 API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DDC6C28-212F-479F-AA23-0B9C4996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95700"/>
            <a:ext cx="16954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B1F31B9-BD87-4F9C-9F23-81D1CC56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838575"/>
            <a:ext cx="1352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Report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87045E7-6DF2-4E56-A833-445338D9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238625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审计报告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7492293-118C-459F-8302-F5E64F77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53390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风险清单 + 图表 + 叙述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C4783CD-CD79-407A-A893-00C4FAD0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Cross-Border Audit Agent · 数字金融课堂展示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64AEEF7-6251-4354-8A47-A8EE7A7D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9399273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8F4827-C0B4-4FA4-B659-AB09F0CE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C25592-DB9A-4D0E-9670-6E8C638B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AGENT PATTERNS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FDB509-BEC8-48DB-8508-83418DBA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858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后半段把主流 Agent 范式讲简单：从自由对话，到流程中的智能节点。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DFE172-19C1-4C5B-A9B6-629C752E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619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Speaker 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00A202-09ED-4DE2-BE11-69BDCCD9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B12B99-1F27-4C7E-AB82-37C13AB4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23812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029096-B00F-423C-BC0C-F4F4DDBA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476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DB8AD8-872D-4AF6-81A3-A3E4A1F1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Single 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55B853-CC02-411C-BD74-5C4A0D7D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20383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一个模型调用工具完成任务。适合问题小、风险低、上下文边界清楚的场景。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AEF42C-B5D0-4CB2-935F-0C2B5523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95450"/>
            <a:ext cx="23812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AC9C6F-321E-4365-B974-D33170D2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95450"/>
            <a:ext cx="476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A9903B-65B5-4A4A-9D40-50866932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4785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Workflow 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E90C85-A5B4-4103-B0EA-5CA9AB37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152650"/>
            <a:ext cx="20383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固定步骤编排，输入输出可检查</a:t>
            </a:r>
          </a:p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适合财务和审计流程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38EF97-F36D-4BAA-BDAF-3585C567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95450"/>
            <a:ext cx="23812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1B1765-D172-4CF9-8FC1-03F6ED43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95450"/>
            <a:ext cx="476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9A3360-9D5D-4DE6-AF93-C59892A7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4785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Multi-Agent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866F9B-1613-40BC-B462-3BE05C9E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52650"/>
            <a:ext cx="20383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用角色拆分任务，例如事实提取、合规判断、复核质疑。适合需要多视角检查的问题。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1EAB33-9EA7-430B-83F9-AE1E7C0F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95450"/>
            <a:ext cx="23812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24F8FA-8839-450F-B41D-AF79F08F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95450"/>
            <a:ext cx="476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018E95-C22C-48E0-BE57-B8BA4B62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84785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Human-in-the-loop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F03882-81DB-430F-BED9-28C8C435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52650"/>
            <a:ext cx="20383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低置信度、证据缺口和最终判断交给人</a:t>
            </a:r>
          </a:p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高责任业务必须保留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80C8DF-BAB3-4F27-BE03-EB3C91A3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2920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181593-D203-4F04-9A01-F35359AB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219700"/>
            <a:ext cx="7667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本项目组合：Workflow 定顺序，RAG 给证据，多 Agent 给视角，人工复核定责任。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F24801-E9D3-43B5-A376-D72C729D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Cross-Border Audit Agent · 数字金融课堂展示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85F9E1-CAA3-4B5D-A707-DDCC84F6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1551365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0DF417-BEDC-4EF2-A4D0-EBA114FC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9E84E9-46E0-4AAC-9AD5-5CD19405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FLOW + REPO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F33D5C-D65A-44D8-83CD-9F9E40C3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8858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一页看懂：业务流程怎么跑，代码结构怎么承接。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169E5C-E6E6-4E70-986D-A253F993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619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Speaker 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56A66-26EB-43D6-BBC9-72A04CDD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E9CD3C-F04C-4093-B48B-69843404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运行流程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A48C2A-EED4-494A-A3DF-C461CDB7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811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项目结构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43E0D5-36A7-4376-9CDB-3828AA7C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447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2E2EEA-C249-41C4-A6E6-B916610B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955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输入层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925FAA-919C-4A48-8DFE-C1594914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085975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演示交易流水</a:t>
            </a:r>
          </a:p>
          <a:p xmlns:a="http://schemas.openxmlformats.org/drawingml/2006/main">
            <a:pPr algn="l"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或上传 CSV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AB96C8-E7A2-485A-BD95-37BEAC4F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860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727A78-0206-46B6-8A99-98483072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447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A0EEBE-CBCD-4B41-B41F-FCEB2BD0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480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Pipeline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0ACED9-DAC7-47FB-9D2F-D6CE0197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38475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数据清洗评分</a:t>
            </a:r>
          </a:p>
          <a:p xmlns:a="http://schemas.openxmlformats.org/drawingml/2006/main">
            <a:pPr algn="l"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规则异常扫描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4987A3-DE38-41C8-8F64-2DD16BDF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385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3F841D-2F62-4956-81B0-265008B0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447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74C6A7-9AFB-4651-A9CE-6D95BC97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005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AI 分析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198DCD-C54D-4E3B-832E-858B3C08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90975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DeepSeek 叙述</a:t>
            </a:r>
          </a:p>
          <a:p xmlns:a="http://schemas.openxmlformats.org/drawingml/2006/main">
            <a:pPr algn="l"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资金核对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E544D9-3D3E-4C9F-89FF-A124D9A4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5910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893CE7-C2F5-4F98-9D08-07B48E87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47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73EC15-2AC5-46FE-B31F-16D9A424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530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输出层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C0CFC2-1DDD-46B2-91B6-2F1013FC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943475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Markdown 报告</a:t>
            </a:r>
          </a:p>
          <a:p xmlns:a="http://schemas.openxmlformats.org/drawingml/2006/main">
            <a:pPr algn="l"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清洗后 CSV</a:t>
            </a:r>
          </a:p>
          <a:p xmlns:a="http://schemas.openxmlformats.org/drawingml/2006/main">
            <a:pPr algn="l"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AI 分析 JSON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4DA4C1-5BE5-4917-B6A2-88F49424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962150"/>
            <a:ext cx="52197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94C4ED-5909-4E12-9486-E16CF78C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717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563EB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2563EB"/>
                </a:solidFill>
                <a:latin typeface="Consolas"/>
                <a:ea typeface="Consolas"/>
                <a:cs typeface="Consolas"/>
              </a:rPr>
              <a:t>streamlit_app.py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D89562-956A-43A4-97BA-EE21EA27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课堂前端：配置、运行、结果展示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EE919A-2604-49EF-83D7-062F354A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765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6A34A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16A34A"/>
                </a:solidFill>
                <a:latin typeface="Consolas"/>
                <a:ea typeface="Consolas"/>
                <a:cs typeface="Consolas"/>
              </a:rPr>
              <a:t>src/data_ingestion/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2E9289-3150-448A-BFBB-2FEB3D60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76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合成交易流水与结算计划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28A835-2D2B-491C-A98D-7DFA3B66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813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6A34A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16A34A"/>
                </a:solidFill>
                <a:latin typeface="Consolas"/>
                <a:ea typeface="Consolas"/>
                <a:cs typeface="Consolas"/>
              </a:rPr>
              <a:t>src/cleaning/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87AF7D-4B16-4506-B09C-98F1286D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数据清洗、质量评分、异常字段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F6E1F4-F957-495F-B90B-77501B2E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861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B45309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B45309"/>
                </a:solidFill>
                <a:latin typeface="Consolas"/>
                <a:ea typeface="Consolas"/>
                <a:cs typeface="Consolas"/>
              </a:rPr>
              <a:t>src/audit/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FB6B50-1A7A-4E98-BE3C-2C50D95A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861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ISA 240/520 规则扫描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9937E8-59A4-4325-BF1A-28CD727C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909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7C3AED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7C3AED"/>
                </a:solidFill>
                <a:latin typeface="Consolas"/>
                <a:ea typeface="Consolas"/>
                <a:cs typeface="Consolas"/>
              </a:rPr>
              <a:t>src/llm/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46F957-BDF1-48BB-B3C3-31DF5EC1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909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DeepSeek 分类、叙述、资金核对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5597DA-4829-49E6-867F-70A86417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957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563EB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2563EB"/>
                </a:solidFill>
                <a:latin typeface="Consolas"/>
                <a:ea typeface="Consolas"/>
                <a:cs typeface="Consolas"/>
              </a:rPr>
              <a:t>src/reporting/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E19E37-5088-4376-BEB5-D32BD6AB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957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Markdown 报告与图表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BD88B8-0E70-4948-BAE8-7EC5C8C2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005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7C3AED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7C3AED"/>
                </a:solidFill>
                <a:latin typeface="Consolas"/>
                <a:ea typeface="Consolas"/>
                <a:cs typeface="Consolas"/>
              </a:rPr>
              <a:t>audit_rag/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22FD45-DED4-4C51-8283-E4AAB0D6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00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多 Agent + RAG 原型层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C35CF9-770C-4729-9CAA-12DDFB30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3053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563EB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2563EB"/>
                </a:solidFill>
                <a:latin typeface="Consolas"/>
                <a:ea typeface="Consolas"/>
                <a:cs typeface="Consolas"/>
              </a:rPr>
              <a:t>cli.py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A8EFCC-1311-460D-8A62-7A19E6EC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053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doctor / where / run / search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E5AED87-156E-4D3B-8D8B-CDCEC70C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101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6A34A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16A34A"/>
                </a:solidFill>
                <a:latin typeface="Consolas"/>
                <a:ea typeface="Consolas"/>
                <a:cs typeface="Consolas"/>
              </a:rPr>
              <a:t>output/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7CEEBE-614A-41EA-977D-112294A0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101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报告、图表、清洗后数据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EF40863-0F98-4E63-9B45-C0834409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9149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7C3AED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7C3AED"/>
                </a:solidFill>
                <a:latin typeface="Consolas"/>
                <a:ea typeface="Consolas"/>
                <a:cs typeface="Consolas"/>
              </a:rPr>
              <a:t>docs/ &amp; assets/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F031767-B099-47AF-A9AC-72E67E09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149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README 截图、Logo、说明文档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F5D7735-937D-4AED-8FD6-8DC896B2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772150"/>
            <a:ext cx="8610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854F7EE-6C6E-4977-9B06-13EF16C5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905500"/>
            <a:ext cx="796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讲法：左边说明数据和证据如何流动，右边说明每一层在仓库里对应哪些文件，避免只讲概念不讲工程落点。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902DBB-6B85-4592-8C28-C19AEBB4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Cross-Border Audit Agent · 数字金融课堂展示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A83CEF7-B2C2-4CB0-8D6D-B4069AF2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3024778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261CBC-A9AA-49CC-A263-308DE330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2edb0fc08b4d0a"/>
          <a:stretch xmlns:a="http://schemas.openxmlformats.org/drawingml/2006/main"/>
        </p:blipFill>
        <p:spPr>
          <a:xfrm xmlns:a="http://schemas.openxmlformats.org/drawingml/2006/main">
            <a:off x="876300" y="838200"/>
            <a:ext cx="1238250" cy="12382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327A14-845C-4737-8B52-6A708FCC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895350"/>
            <a:ext cx="809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总结：能跑是第一步，可信才是财务 AI 的生产门槛。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7ECF43-B978-4B18-A742-1A6712CE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7907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这个项目的价值不是证明 Agent 可以全自动审计，而是证明它能在资金流场景里先做可复核的异常扫描和风险叙述。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5EECD2-230E-4149-B4D8-81A62DE3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2095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D7DEDB-D459-42F6-AEFF-E9FD4B54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775C4D-CF55-48D6-B99A-C0294157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1945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评测器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7BDDA8-F137-46E0-968C-F7FE9B22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24250"/>
            <a:ext cx="1752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合成数据 + Precision / Recall / F1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39E90F-AFD0-48EA-BF09-AD402D7A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67050"/>
            <a:ext cx="2095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FDF8B9-4FA7-4F11-94F5-B95BD83B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670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CF7930-2785-4B9F-8981-F92C2D62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1945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对比实验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BDE3DD-EE58-4FD5-9BB7-2CACB172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24250"/>
            <a:ext cx="1752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和审计人员风险判断做差异分析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59FF7A-35F1-42E9-843F-0D4E287F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2095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B8046A-F2B9-44C3-9357-EA5809E8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0D15E9-A3AA-4B69-B4C9-6A4ED8FD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1945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场景扩展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A3C4BC-6DC7-4B1C-90D7-3F4459A9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24250"/>
            <a:ext cx="1752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更多平台、币种、物流和税务数据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705662-B2DC-4855-89A6-1D893869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67050"/>
            <a:ext cx="2095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A7D711-5DCD-4E04-BE91-A92B8C89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670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BC67A4-FD17-416D-925D-54D5E93D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1945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私有化治理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1DAFE7-7D5A-4DD0-B24C-F95F62F0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524250"/>
            <a:ext cx="1752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模型、权限、日志、审计轨迹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F0CE83-7C46-4452-AB2C-3E548629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F33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792FBC-CB3A-418D-A843-C0346E43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76850"/>
            <a:ext cx="847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Q&amp;A 准备：为什么不全自动？怎么控幻觉？数据是否外发？谁承担最终责任？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2FB4D0-A935-481D-9FA1-F4A3F50C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Cross-Border Audit Agent · 数字金融课堂展示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107C5B-A775-4993-BD02-3330F8A8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183555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2026-06-05T04:42:11.8870000Z</dcterms:created>
  <dcterms:modified xsi:type="dcterms:W3CDTF">2026-06-05T04:42:11.8870000Z</dcterms:modified>
</coreProperties>
</file>