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5a154191024093" /><Relationship Type="http://schemas.openxmlformats.org/officeDocument/2006/relationships/extended-properties" Target="/docProps/app.xml" Id="Rc57783615a11485e" /><Relationship Type="http://schemas.openxmlformats.org/officeDocument/2006/relationships/officeDocument" Target="/ppt/presentation.xml" Id="R9e472ad969114b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445e854a664451"/>
  </p:sldMasterIdLst>
  <p:notesMasterIdLst>
    <p:notesMasterId xmlns:r="http://schemas.openxmlformats.org/officeDocument/2006/relationships" r:id="Ra37b8ad23372497a"/>
  </p:notesMasterIdLst>
  <p:sldIdLst>
    <p:sldId xmlns:r="http://schemas.openxmlformats.org/officeDocument/2006/relationships" id="256" r:id="R1ea02fdc32ec4eee"/>
    <p:sldId xmlns:r="http://schemas.openxmlformats.org/officeDocument/2006/relationships" id="257" r:id="R2e1cde2b4d1245c2"/>
    <p:sldId xmlns:r="http://schemas.openxmlformats.org/officeDocument/2006/relationships" id="258" r:id="R65c6d2f7988b4a87"/>
    <p:sldId xmlns:r="http://schemas.openxmlformats.org/officeDocument/2006/relationships" id="259" r:id="R1dc423ebbb8e4467"/>
    <p:sldId xmlns:r="http://schemas.openxmlformats.org/officeDocument/2006/relationships" id="260" r:id="R1627cf35d2bc4a93"/>
    <p:sldId xmlns:r="http://schemas.openxmlformats.org/officeDocument/2006/relationships" id="261" r:id="R3aa65e3675b24750"/>
    <p:sldId xmlns:r="http://schemas.openxmlformats.org/officeDocument/2006/relationships" id="262" r:id="R2de75ecd394b4eb7"/>
    <p:sldId xmlns:r="http://schemas.openxmlformats.org/officeDocument/2006/relationships" id="263" r:id="R0cee3ce951e94814"/>
    <p:sldId xmlns:r="http://schemas.openxmlformats.org/officeDocument/2006/relationships" id="264" r:id="R1e173032d78f4aae"/>
    <p:sldId xmlns:r="http://schemas.openxmlformats.org/officeDocument/2006/relationships" id="265" r:id="Reaf5b6c681ac48f1"/>
    <p:sldId xmlns:r="http://schemas.openxmlformats.org/officeDocument/2006/relationships" id="266" r:id="R1f77f3ce0aaf4a14"/>
    <p:sldId xmlns:r="http://schemas.openxmlformats.org/officeDocument/2006/relationships" id="267" r:id="R169a3e3383eb4ea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2cc9e8d5be4fe9" /><Relationship Type="http://schemas.openxmlformats.org/officeDocument/2006/relationships/slideMaster" Target="/ppt/slideMasters/slideMaster1.xml" Id="R88445e854a664451" /><Relationship Type="http://schemas.openxmlformats.org/officeDocument/2006/relationships/notesMaster" Target="/ppt/notesMasters/notesMaster1.xml" Id="Ra37b8ad23372497a" /><Relationship Type="http://schemas.openxmlformats.org/officeDocument/2006/relationships/presProps" Target="/ppt/presProps.xml" Id="Rb72f79aac3d24236" /><Relationship Type="http://schemas.openxmlformats.org/officeDocument/2006/relationships/viewProps" Target="/ppt/viewProps.xml" Id="R4555289d92cb442d" /><Relationship Type="http://schemas.openxmlformats.org/officeDocument/2006/relationships/tableStyles" Target="/ppt/tableStyles.xml" Id="R5b6da6ab32a2435a" /><Relationship Type="http://schemas.openxmlformats.org/officeDocument/2006/relationships/slide" Target="/ppt/slides/slide1.xml" Id="R1ea02fdc32ec4eee" /><Relationship Type="http://schemas.openxmlformats.org/officeDocument/2006/relationships/slide" Target="/ppt/slides/slide2.xml" Id="R2e1cde2b4d1245c2" /><Relationship Type="http://schemas.openxmlformats.org/officeDocument/2006/relationships/slide" Target="/ppt/slides/slide3.xml" Id="R65c6d2f7988b4a87" /><Relationship Type="http://schemas.openxmlformats.org/officeDocument/2006/relationships/slide" Target="/ppt/slides/slide4.xml" Id="R1dc423ebbb8e4467" /><Relationship Type="http://schemas.openxmlformats.org/officeDocument/2006/relationships/slide" Target="/ppt/slides/slide5.xml" Id="R1627cf35d2bc4a93" /><Relationship Type="http://schemas.openxmlformats.org/officeDocument/2006/relationships/slide" Target="/ppt/slides/slide6.xml" Id="R3aa65e3675b24750" /><Relationship Type="http://schemas.openxmlformats.org/officeDocument/2006/relationships/slide" Target="/ppt/slides/slide7.xml" Id="R2de75ecd394b4eb7" /><Relationship Type="http://schemas.openxmlformats.org/officeDocument/2006/relationships/slide" Target="/ppt/slides/slide8.xml" Id="R0cee3ce951e94814" /><Relationship Type="http://schemas.openxmlformats.org/officeDocument/2006/relationships/slide" Target="/ppt/slides/slide9.xml" Id="R1e173032d78f4aae" /><Relationship Type="http://schemas.openxmlformats.org/officeDocument/2006/relationships/slide" Target="/ppt/slides/slide10.xml" Id="Reaf5b6c681ac48f1" /><Relationship Type="http://schemas.openxmlformats.org/officeDocument/2006/relationships/slide" Target="/ppt/slides/slide11.xml" Id="R1f77f3ce0aaf4a14" /><Relationship Type="http://schemas.openxmlformats.org/officeDocument/2006/relationships/slide" Target="/ppt/slides/slide12.xml" Id="R169a3e3383eb4e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c512af891744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da164d4aac4a3d" /><Relationship Type="http://schemas.openxmlformats.org/officeDocument/2006/relationships/notesMaster" Target="/ppt/notesMasters/notesMaster1.xml" Id="R083ff696a52242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d1c0464c2642f1" /><Relationship Type="http://schemas.openxmlformats.org/officeDocument/2006/relationships/notesMaster" Target="/ppt/notesMasters/notesMaster1.xml" Id="Rc9efa26ac4ea44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847c5a0ab24b89" /><Relationship Type="http://schemas.openxmlformats.org/officeDocument/2006/relationships/notesMaster" Target="/ppt/notesMasters/notesMaster1.xml" Id="Rb8fa8a68b097428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0e5e2bc3484ebe" /><Relationship Type="http://schemas.openxmlformats.org/officeDocument/2006/relationships/notesMaster" Target="/ppt/notesMasters/notesMaster1.xml" Id="R54587ac391de43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a37614986d48ef" /><Relationship Type="http://schemas.openxmlformats.org/officeDocument/2006/relationships/notesMaster" Target="/ppt/notesMasters/notesMaster1.xml" Id="R55f16ebc205e45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5a85dc5d0d4f2e" /><Relationship Type="http://schemas.openxmlformats.org/officeDocument/2006/relationships/notesMaster" Target="/ppt/notesMasters/notesMaster1.xml" Id="Rd38a61ab1aa54aa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7b6343e03d4fc3" /><Relationship Type="http://schemas.openxmlformats.org/officeDocument/2006/relationships/notesMaster" Target="/ppt/notesMasters/notesMaster1.xml" Id="R4c9438e84cfa4f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a35268dc7b4700" /><Relationship Type="http://schemas.openxmlformats.org/officeDocument/2006/relationships/notesMaster" Target="/ppt/notesMasters/notesMaster1.xml" Id="R9fa6ab5c626e468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c3464c3df44539" /><Relationship Type="http://schemas.openxmlformats.org/officeDocument/2006/relationships/notesMaster" Target="/ppt/notesMasters/notesMaster1.xml" Id="Ra125625d2b6741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db45fb26433400e" /><Relationship Type="http://schemas.openxmlformats.org/officeDocument/2006/relationships/notesMaster" Target="/ppt/notesMasters/notesMaster1.xml" Id="R8df87561c9ba4c8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7daae3e18cb447f" /><Relationship Type="http://schemas.openxmlformats.org/officeDocument/2006/relationships/notesMaster" Target="/ppt/notesMasters/notesMaster1.xml" Id="Rb93e9b5e114a4ee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0f6a57d3319456d" /><Relationship Type="http://schemas.openxmlformats.org/officeDocument/2006/relationships/notesMaster" Target="/ppt/notesMasters/notesMaster1.xml" Id="R068d3e1f628b43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2b8a4a3f0142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97458baa4f4237" /><Relationship Type="http://schemas.openxmlformats.org/officeDocument/2006/relationships/slideLayout" Target="/ppt/slideLayouts/slideLayout1.xml" Id="Rc41ed4f6710044f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1ed4f6710044f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a08f81b16d4109" /><Relationship Type="http://schemas.openxmlformats.org/officeDocument/2006/relationships/image" Target="/ppt/media/image.png" Id="Rd51d941242a64a4e" /><Relationship Type="http://schemas.openxmlformats.org/officeDocument/2006/relationships/notesSlide" Target="/ppt/notesSlides/notesSlide1.xml" Id="R4a900399676d49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d70ddc3e7c4cd2" /><Relationship Type="http://schemas.openxmlformats.org/officeDocument/2006/relationships/image" Target="/ppt/media/image2.png" Id="Rf4e4ea0697b84b6d" /><Relationship Type="http://schemas.openxmlformats.org/officeDocument/2006/relationships/notesSlide" Target="/ppt/notesSlides/notesSlide2.xml" Id="R8d08b9ea00b541e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ab33728542488d" /><Relationship Type="http://schemas.openxmlformats.org/officeDocument/2006/relationships/notesSlide" Target="/ppt/notesSlides/notesSlide3.xml" Id="Rc40e5e6342d942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0ba2193cb6475f" /><Relationship Type="http://schemas.openxmlformats.org/officeDocument/2006/relationships/notesSlide" Target="/ppt/notesSlides/notesSlide4.xml" Id="R2e8c2ff1d85146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e97cc8f364341" /><Relationship Type="http://schemas.openxmlformats.org/officeDocument/2006/relationships/image" Target="/ppt/media/image3.png" Id="Rb1087ac1fcf64183" /><Relationship Type="http://schemas.openxmlformats.org/officeDocument/2006/relationships/notesSlide" Target="/ppt/notesSlides/notesSlide5.xml" Id="Rd7731a8c3d4d4d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c4e59cba154b85" /><Relationship Type="http://schemas.openxmlformats.org/officeDocument/2006/relationships/notesSlide" Target="/ppt/notesSlides/notesSlide6.xml" Id="Rae67318400024b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355ed91244587" /><Relationship Type="http://schemas.openxmlformats.org/officeDocument/2006/relationships/notesSlide" Target="/ppt/notesSlides/notesSlide7.xml" Id="R138b8df1d68e4a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8dc5226d8d45c9" /><Relationship Type="http://schemas.openxmlformats.org/officeDocument/2006/relationships/notesSlide" Target="/ppt/notesSlides/notesSlide8.xml" Id="R1bb6740acffe44a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fd41223e364933" /><Relationship Type="http://schemas.openxmlformats.org/officeDocument/2006/relationships/notesSlide" Target="/ppt/notesSlides/notesSlide9.xml" Id="Reefc5ef6d30749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c7c68227f4316" /><Relationship Type="http://schemas.openxmlformats.org/officeDocument/2006/relationships/notesSlide" Target="/ppt/notesSlides/notesSlide10.xml" Id="R46c7150553e74e6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51acf0ca941da" /><Relationship Type="http://schemas.openxmlformats.org/officeDocument/2006/relationships/notesSlide" Target="/ppt/notesSlides/notesSlide11.xml" Id="R1e38ac2b92c5414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7e90250244dc0" /><Relationship Type="http://schemas.openxmlformats.org/officeDocument/2006/relationships/image" Target="/ppt/media/image4.png" Id="Ra3b6afa4ba994ee3" /><Relationship Type="http://schemas.openxmlformats.org/officeDocument/2006/relationships/notesSlide" Target="/ppt/notesSlides/notesSlide12.xml" Id="Rfffb9921b96e411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B8D3D4-E131-442D-9C87-770C9A1B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1d941242a64a4e"/>
          <a:stretch xmlns:a="http://schemas.openxmlformats.org/drawingml/2006/main"/>
        </p:blipFill>
        <p:spPr>
          <a:xfrm xmlns:a="http://schemas.openxmlformats.org/drawingml/2006/main">
            <a:off x="590550" y="526256"/>
            <a:ext cx="5334000" cy="1500188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D8A940-5E0B-4E68-86C9-346732C6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8191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可信多 Agent 审计系统：从跨境资金流到 Excel 底稿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E04FD7-7EA6-4A4D-88F9-3E488C15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9900"/>
            <a:ext cx="742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rPr>
              <a:t>数字金融课堂展示 · 两人讲解 · 现场打开局域网前端演示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699461-4773-4FD4-BFDC-24365DFD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4876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F33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F77DF-4808-43CC-827D-132832DDE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rPr>
              <a:t>演示地址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008C07-94C6-4C47-A0A8-DAA52CEF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4191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http://10.5.52.230:8501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723DE2-4FFD-431A-932F-543E6319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E2F002-FDDE-44D3-8F30-59D252B5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81450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Speaker A：问题与系统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6A87C3-0C90-4F46-AB38-90E7FADFB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52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5C87B9-828A-410F-BBF2-85CB0340D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981450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Speaker B：架构与范式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C6F6EA-02C5-4F41-B439-67E19401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开场先演示，随后解释为什么做、怎么控风险、以及 Agent 主流架构如何落在审计场景里。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5DE0A9-0427-47EA-BB8E-BB136F00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F52913-3EB3-4CC3-8AAC-FD37B893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6913701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18599F-AA88-4E01-96C3-B2C5E0F1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934AB4-5783-4E82-AF7D-6B847676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LIVE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3F5CB4-198D-48E4-B2BA-2AECC1BE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先给同学看到可运行结果，再解释系统为什么可信。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02BBE-9DDA-4C3E-967D-D3C85051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619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6E5906-11DB-4C87-83B3-5C0D7BF3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e4ea0697b84b6d"/>
          <a:stretch xmlns:a="http://schemas.openxmlformats.org/drawingml/2006/main"/>
        </p:blipFill>
        <p:spPr>
          <a:xfrm xmlns:a="http://schemas.openxmlformats.org/drawingml/2006/main">
            <a:off x="1860550" y="1524000"/>
            <a:ext cx="4622800" cy="43338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0796FF-8172-4BB8-8FA7-D79BC1FF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7A222E-AC92-49AC-949B-D454674F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E5427E-F56E-4A26-ADCE-4003E821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335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课堂动作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1CA7A7-F818-479C-B94D-2FAB4FF32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38350"/>
            <a:ext cx="28003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1. 打开封面 IP 地址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2. 点击“使用内置示例生成底稿”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3. 下载 Excel 工作底稿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4. 回到 PPT 解释底层链路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49534-336D-4192-B2D3-EF9A85A2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7185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4AB564-89B1-45BF-A0C8-3504E4DD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7185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DE2969-EAD0-4807-BBCD-1B57F0F4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242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演示边界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DC1726-8050-4382-A83D-1AF427A3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29050"/>
            <a:ext cx="2800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默认 mock 模式，不调用远端模型；示例材料来自仓库合成数据；适合课堂网络环境。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8C3288-AAC9-41F8-8525-D8B5ADF0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81550"/>
            <a:ext cx="3143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03D77F-B32A-422B-917C-7B534BC1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81550"/>
            <a:ext cx="47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B2DB8A-49FA-4A13-9A07-5F629A5B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339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一句话讲法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99322D-E92F-4069-8716-34745E84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38750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这不是聊天机器人，而是把材料、规则、证据和人工复核串起来的审计工作流。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26252D-70D1-430B-9B7D-2F206516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07ABE8-CDE4-4635-A883-59E1D474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5229042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FCA50F-266D-4F46-878E-2DD08ED0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65CB05-1BDC-487E-9259-F050AF39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HARD QUESTION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E20921-92D2-4961-ADED-96824EEB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数字金融里的 AI 审计，难点不是回答，而是可被信任。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F2F666-FAA1-4131-AA52-FA663E96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619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C8741-66C0-4735-ADCB-08B5BBDE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B7BEB6-87AC-4F65-A910-C95FEE06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990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42046-1766-452A-9C27-36319268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431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普通聊天机器人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B19B1D-459E-4DCE-A5AF-96BAA103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90500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输入问题后直接生成答案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1CE7D7-9821-4D9E-A9E0-92859303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05000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结论难复核，证据链和数据边界不稳定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42F8C3-80FA-4B74-BA65-5AAF234C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90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5D8148-83EE-4C75-BFDE-6BA4AD24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09975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可信审计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986AA3-2A55-470E-91B4-38D64AB3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571875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先结构化材料，再引用依据和输出底稿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7FFE7F-02C3-4473-86B0-DDBC341A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718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可追溯、可复核、可控制外发和公式写入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E554DB-86CC-4991-BC0C-96A35D29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核心观点：审计场景不能让 LLM 直接“拍板”，它应该被放进一个有材料边界、证据边界和人工复核边界的工作流。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310892-9D05-47B7-943F-16496C94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98AB67-4DFC-4363-A5FD-37B9C0B4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5660396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C44CD8-E78F-4CD8-9075-CA8EFC7C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974704-55BE-45A5-AD02-DA4F7594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HARD QUESTION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03BBA-F61A-44AB-BB89-CF2A0E69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幻觉、证据缺口、公式误写和数据外发，都要在架构里被前置处理。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21F4BC-0077-4AD3-A8FA-0F6886DD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619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9EB9CC-DC50-4F95-BEFF-E550E00B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A6E2AC-F2E6-4595-87C8-9626E13F6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629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9D760A-9EDF-4573-9719-D55B4A70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9855DF-46C5-4CDD-BB50-2D7AD265A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28800"/>
            <a:ext cx="428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幻觉结论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457C1-4746-4B48-A268-B575C696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33600"/>
            <a:ext cx="4286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RAG 依据 + mock 默认 + 人工复核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758B11-EB03-4C9F-B23D-61130E89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76400"/>
            <a:ext cx="4629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136924-F7B3-48CA-BE39-DA724EF1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7640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8A39E7-C283-494D-B391-8CA095A6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28800"/>
            <a:ext cx="428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证据缺口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415A5D-85F3-447D-A96C-11A2D89F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33600"/>
            <a:ext cx="4286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Audit Partner 质疑待补充证据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87E5BB-06D1-42EA-9A3A-180EA7BC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4629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D844E3-B69A-4C2E-9CBE-3659674F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146325-55AF-473E-9E81-64089841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428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公式误写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F3928D-02AA-423B-9AE9-58A86DC6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29050"/>
            <a:ext cx="4286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cell_map 只允许写入可填区域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933FA4-2828-4E24-A387-1AEB36A6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71850"/>
            <a:ext cx="4629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012E83-0690-414B-A3BF-0889C472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718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910F8C-CDA3-4850-A69A-3462D1AE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524250"/>
            <a:ext cx="428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数据外发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9D9FB1-95BC-41E3-9C9A-7A4CE34A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29050"/>
            <a:ext cx="4286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课堂 demo 不调用 API，真实资料先脱敏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27E9B0-17E5-41E0-BA2A-304E4367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19700"/>
            <a:ext cx="876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6A519C-6470-4EA2-8989-8A86BAED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39115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产品原则：让模型输出建议，让系统保留证据，让人负责最终判断。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80E767-EAAF-4C12-A507-6C05CB36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2FCD1F-88D6-4152-9207-B19E7BA3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8752571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0C8D0A-8789-4795-8B3D-3E96F866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034243-FB9C-49A7-9AE0-F624CB03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SYSTEM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90119D-8B7D-4ED1-9790-BA88101BC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系统不是一层 LLM，而是“材料到审计结论”的五段链路。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B55B2-05EE-43F6-B5CD-27A23289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619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56295F-C5C4-40AB-9EE9-4D7BE634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4E046E-80AA-4225-998A-EF5A493F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17907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901047-9C5F-478D-8754-635C6C52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14E337-43E3-4262-A406-68264530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9800"/>
            <a:ext cx="1200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材料结构化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979F78-3A65-4799-A252-3E4B7B23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52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试算平衡表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序时账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函证回函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4D4E2D-86A0-480E-9E20-AFE89D90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717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B3CDC6-B418-4FB9-BAA1-314D6BF7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95500"/>
            <a:ext cx="17907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FE679F-9F9A-4802-ACFA-52F5B3EE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2098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93C6B-BE20-4346-A48A-197BBF15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09800"/>
            <a:ext cx="1200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规则扫描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38FE41-1DB9-49E3-8CF9-238E507E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52700"/>
            <a:ext cx="152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金额聚合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余额调节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风险识别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18F0A9-AB4A-4233-BBDB-0751589F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5717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2E49BE-06F8-4649-80A7-C110120F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95500"/>
            <a:ext cx="17907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1D98B8-00E6-46B0-8408-081E2E293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2098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738178-FA5E-453E-A217-FFDA3C48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09800"/>
            <a:ext cx="1200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RAG 依据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B10BD1-0432-4199-8E33-B5CD752C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552700"/>
            <a:ext cx="152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CAS / CPA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跨境知识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fallback 检索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63A3BD-B8AE-4708-B139-AB4690A4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717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5EA432-D96A-4622-B441-2285FBF3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95500"/>
            <a:ext cx="17907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65EA42-76CB-4AEA-9A66-0A36D40B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098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E2A471-06DB-411C-99C2-A15B38F9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209800"/>
            <a:ext cx="1200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多 Agent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54224F-4BE4-4048-8453-F243C8D0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52700"/>
            <a:ext cx="152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提取事实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合规分析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合伙人复核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E51F29-DCBD-47D6-B6A1-1EB71EE5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78FEBB-43DA-425D-A139-CD5C154A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95500"/>
            <a:ext cx="17907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7F4AC6-1901-4CA3-8032-91B74A78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098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3DCC08-E2B6-4A42-AA52-4B29F309C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209800"/>
            <a:ext cx="1200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底稿输出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A8EA3B-E184-4305-BFC7-6645DD62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552700"/>
            <a:ext cx="152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Markdown 报告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Excel 工作底稿</a:t>
            </a:r>
          </a:p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Check 行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087ac1fcf64183"/>
          <a:stretch xmlns:a="http://schemas.openxmlformats.org/drawingml/2006/main"/>
        </p:blipFill>
        <p:spPr>
          <a:xfrm xmlns:a="http://schemas.openxmlformats.org/drawingml/2006/main">
            <a:off x="2095500" y="4095750"/>
            <a:ext cx="2133600" cy="2000250"/>
          </a:xfrm>
          <a:prstGeom xmlns:a="http://schemas.openxmlformats.org/drawingml/2006/main" prst="rect">
            <a:avLst/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DC905A-0CD3-4130-8AF0-A37253A3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67200"/>
            <a:ext cx="44767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5CA1B5-5882-4CC4-A4FA-2A3F4F00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67200"/>
            <a:ext cx="47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567BBE-B3BB-457E-B13A-7C4414B9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41960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当前演示链路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FDC574-ED02-499A-8AFE-5A3A5CEF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24400"/>
            <a:ext cx="4133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前端一键示例走的是同一套 cash workpaper filler。上传真实材料时，只是把材料包从内置样例换成用户上传文件。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8BAAF6-10BC-434A-A80D-A975F3AE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709D174-A0E6-449C-8B73-2950A13E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0989848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9E0C23-7079-4F15-A21B-911B59CC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35297-EB51-4524-A4F6-72796D94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TRUST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2EFC69-2F4A-4BDF-B90D-9707304B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可信不是一句口号，而是四个控制点同时工作。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7D713-E998-4297-B3A8-15E18F9B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619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8CD4C-7A14-4837-9B31-821DE1812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8CFA0A-7A64-4EB9-80C1-76B3002B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23241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45B75-5312-4B7A-84A4-CDACA0F75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05000"/>
            <a:ext cx="1981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Mock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8D6815-24CD-4189-86F3-B702D08A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95525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默认本地演示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14D2DD-3650-42C1-B4F4-50CC9866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无 API Key 也可运行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54F15-1435-46EE-83FF-4FE3AC57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52600"/>
            <a:ext cx="23241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ABACF8-84E4-4E48-B6E9-0267FB1F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905000"/>
            <a:ext cx="1981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Cell Map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932E93-8D04-4009-B60C-EDBBCBA0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95525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公式区保护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30E591-19BA-44AC-B9B7-5670207A1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9080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只写模板可填区域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44EA58-37DF-4256-9A9F-80047122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52600"/>
            <a:ext cx="23241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1D5941-052B-40FF-A52B-10356AF0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05000"/>
            <a:ext cx="1981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RAG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5CF3AD-16BF-4FEF-996C-37542F4DD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95525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证据可追溯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DE804D-0E22-41C5-8190-325725064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9080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检索依据进入报告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0941F4-256A-493D-AB15-BC10FDC6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52600"/>
            <a:ext cx="23241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1E6D77-BD51-44CC-8E4D-FCF091D1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905000"/>
            <a:ext cx="1981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C3CF1A-8700-4AC4-A7E1-A72B2123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95525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Maker-Checker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787D50-C756-4627-990C-64D1104D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59080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结构化 verdict + 重试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D4DA98-86B6-4D35-8E92-E4B46971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43300"/>
            <a:ext cx="8572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8FF08C-8D01-42B0-9861-015D6967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4330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A856E5-427C-4F94-A787-F6FFB867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95700"/>
            <a:ext cx="822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课堂要强调的边界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FDB885-F64D-4C79-98ED-C22DFCA9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000500"/>
            <a:ext cx="8229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AI 辅助的是材料整理、风险识别和说明生成；最终审计判断仍然由专业人员负责。这个边界让项目更像真实的 B2B AI 产品，而不是玩具 demo。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4AD9C5-C6CC-400F-9581-55183E69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9110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39AD65-2DB4-43FA-89A2-B8D9256D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911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86746A-813A-4D6C-A1F7-EC176D4B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143500"/>
            <a:ext cx="822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产品经理视角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D581E9-AEAA-4B00-8DE9-DFAFEECE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48300"/>
            <a:ext cx="822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好的 Agent 不是“全自动替代人”，而是把高频、重复、可结构化的审计动作做成可信辅助，并把低置信度问题交回人工。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EE7346-4BCD-42A2-AE30-FBFCB3B0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97DD81-D4C5-435C-92BB-DC5CF164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2141610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BB8526-7BC2-4367-AD61-B99096E6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9BEA66-8315-4A8C-A3C8-50AF80087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ENGINEERING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F5332B-2931-4B12-A811-65D34C4C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当前工程证据能支撑课堂展示，而不是只停留在概念图。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0E3C3D-1278-4235-82E7-2C2A5208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619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 /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8788A5-AB94-4B1D-9155-1EF07DEE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F2DB57-39F5-43D1-AB8B-043C49EC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2857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10A7CE-586B-4F3D-B745-8665723B6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2514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52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46E78-B151-4ECF-88EC-AF5C4893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57425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pytest passed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118497-006C-4CAA-ACF3-3A5C5AC4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检索、复核、底稿填表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E0C513-75C4-4991-AA8E-BAFCCB46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14500"/>
            <a:ext cx="2857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6B141A-1190-4FA0-9396-107D1DEF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66900"/>
            <a:ext cx="2514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3616C7-8416-45A8-92B8-3CE9B275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257425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跨境风险类别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4805AD-8C57-4E45-811C-76D81545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527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关联方、NRV、汇兑、关税等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01105D-8FA4-41AF-91B0-73DBFA50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14500"/>
            <a:ext cx="2857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A52115-4249-45FA-8180-99DF385A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866900"/>
            <a:ext cx="2514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9D95EA-58FA-4CD2-B857-E08D7E41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57425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Agent roles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7BE50C-3FDD-4A67-AF4E-B219353F1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527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Data / Compliance / Partner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71435B-528C-4ABD-A1C5-AC67B1C0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38550"/>
            <a:ext cx="4476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0931AC-AEA2-4BBF-A98D-ECCB6058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3855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41289C-4506-434E-8EA5-3DC4B3CF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9095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Benchmark 隔离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1E5F34-6C9D-4D2D-A31C-1469036F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4133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materials 可见，ground_truth 不可见。后续可以接 Precision / Recall / F1，防止 Agent 看到答案。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C2983E-7D77-4C03-90BC-B603A033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38550"/>
            <a:ext cx="4476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DD4FB5-3EC9-4D3D-95AD-00352EE8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3855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38E731-5CDF-4E40-B9CF-97B7D335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9095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生成物隔离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BFD974-A86B-4AA3-BFD8-06B63939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95750"/>
            <a:ext cx="4133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output/ 下的报告、上传材料和底稿被 Git 忽略，避免把运行产物和课堂截图混入代码历史。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766FD5-0D0B-4939-984C-95622735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39FF75-00DA-4AEF-952C-447F7170F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6547398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774C1C-6013-4D7B-B948-F886F865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3F9F61-D181-4BEC-8B92-9F8E4BA9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THREE AGENTS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2AA5CF-F8F8-409C-90AA-D2671C02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三 Agent 分工模拟审计团队，而不是让一个模型承担所有角色。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D5969D-1262-4DF8-849B-CF5EC219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619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9DF77-341E-4CE9-94EC-B3804729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6BE6C9-9E0A-4767-A55F-BFD3AA7E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8BAC50-2C91-4217-9394-8D85ABEC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BD42ED-A28E-486D-AA41-BA795C13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Data Extractor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40B183-F46A-48AA-8FE3-A5BE91EE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读取材料和凭证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提取异常金额、账户、平台、币种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输出：已识别事实 + 建议程序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FEA3AF-3023-47A6-A2E8-0811AE37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9070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A726CF-C5D4-4596-BF0F-1A0BCDAD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9070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F16CC4-14F5-4018-8D95-F0C41DDE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4310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Compliance Checker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003237-7FE6-4CAA-990E-35495B3F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479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匹配 CAS / CPA / OECD 依据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标注准则和合规关注点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输出：依据编号 + 合规分析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A1D05F-C0D6-4AD2-B9E6-1494D7A7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79070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C7E044-F4CF-49A7-8DD9-FAE4E9C1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79070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58787D-DDDE-44E6-8ECF-ED36B216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4310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Audit Partner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463478-E930-4151-BBB0-85CBFDC2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479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质疑证据链和资料缺口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区分事实、推断、待补充资料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输出：最终意见 + 后续程序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7EF1E1-EC41-4F7C-AC56-D2D1C357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952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讲法：Agent 的价值不在“人格化”，而在把不同专业视角拆成可追踪的审计任务。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B65564-6A75-4698-9728-28177674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5BD677-41E9-4B49-BCFB-24F49AAA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4127790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C4C9BD-A555-4441-8E70-28596E753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3DBED6-D1C0-4F88-9F4E-AEEBD532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RAG LAYER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D9EAB0-46D0-4EB5-B219-07DC0593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RAG 的作用是把模型回答拉回审计依据，而不是装饰性检索。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BD4B93-6840-4DCB-812D-3FD68F48A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619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1578BB-3E0F-42FD-931B-11C6B108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C64FD2-2A67-4F36-9EF3-2749455B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8BA9E7-E714-4EE0-B4AA-C44E0144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DA31E-1F92-45DE-AF8B-F5804ECF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14500"/>
            <a:ext cx="3505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Knowledge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82307D-895A-446E-88AD-E91BEF38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57400"/>
            <a:ext cx="382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CPA / CAS / 跨境审计片段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CC745-35ED-4E9D-907F-68EDFE60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6A13DB-81D6-4C46-AF5E-BAF7D119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955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12CAA7-72F0-4373-AFD9-7A06299F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95550"/>
            <a:ext cx="3505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Retrieve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D9D7F4-45AA-45C0-AEA2-E7E035C6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38450"/>
            <a:ext cx="382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BM25 + vector + RRF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50E504-979B-408A-B61D-0ED5DBE1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815-CFB5-4913-848A-381DB4F8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E6F9DE-7F01-422C-AF54-445BFEC6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76600"/>
            <a:ext cx="3505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Rerank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6DF624-64E1-4935-9C95-CA87BC15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82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cross-encoder optional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4E8DE1-43DF-44F4-AEDC-6C8C3532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B7E02A-2B33-4205-8393-B727EEB9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576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F167A7-D406-415E-B7F8-CA569E27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57650"/>
            <a:ext cx="3505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Fallback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5D8094-A31B-4F22-9A15-8C5CEC32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00550"/>
            <a:ext cx="382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关键词 fallback 保底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B4884F-5E5C-46D2-925D-BF886557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2440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CF94E8-D505-4323-B255-F8232841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D9ECBF-D127-4477-A090-D8A3C0524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38700"/>
            <a:ext cx="3505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Report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B09918-ACB1-4538-82B6-D5524B83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382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依据片段进入 Markdown / Agent 上下文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036608-A975-40DF-A0AB-DF3D3A60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90700"/>
            <a:ext cx="4476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C8E96E-2EE5-4180-9B08-62CE92C5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9070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243035-B423-4EC2-AD3C-1266C884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94310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为什么要 fallback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FE247E-3AD4-4FED-B37E-C00EB844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247900"/>
            <a:ext cx="4133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课堂/本地环境里向量库、模型或 reranker 都可能暂时不可用；fallback 让 demo 不因为依赖缺失而整体崩掉。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F0C84B-4952-4723-9B19-3A467151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48050"/>
            <a:ext cx="4476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87E9C9-71C9-460D-99A2-879BF2F0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480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965BFB-39A5-4667-B005-107DE24E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60045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为什么要保留来源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097BF9-761B-4591-8C56-019C3305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05250"/>
            <a:ext cx="4133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审计不是写作文。每个风险说明都需要能回看材料、准则或知识片段，方便复核和追问。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86B5DE-8179-4880-ADB2-F45061B3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1226CBD-836F-4956-AEED-A95AC8318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4991765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F5355F-06E5-4A42-972E-FBBC1287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82553F-48E4-4C79-8F9E-DE991E14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AGENT PATTERNS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E8846-42B9-47DD-9B24-7CED86B8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把主流 Agent 范式放回这套项目，就很容易讲清楚。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763CB9-07C0-410C-992C-8923AD92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619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2F76E6-89F9-4950-B74B-6ACEB5F4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8CA40-1DEA-4B19-ADDC-25488966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45CB69-54F3-4A52-B3E6-4AA9481B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752A9A-3F5B-4BE1-BF04-BD774C29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478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Rule Engine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1766F-AE93-4151-B966-7E1B4378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2038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确定性过滤：金额阈值、余额核对、字段规范。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适合可枚举、可解释、可测试的审计规则。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FA8574-BBAE-4772-BB9C-D03D6E65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954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747FB4-86EA-45E1-B352-E7D2268D7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9545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AC710B-8054-406D-9966-7E8D7832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478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23B518-0C42-4DBB-A053-3BE2C3010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152650"/>
            <a:ext cx="2038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流程编排：材料摄入、检索、复核、输出。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适合把复杂动作拆成稳定步骤。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510F45-EBA4-4A33-9D45-5E710116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954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573401-810E-423B-B101-00BB753D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9545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E49479-9780-4267-B92E-4FC2CB85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478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Multi-Agent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8475B-4B91-41B2-B2AB-D22B1308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52650"/>
            <a:ext cx="2038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角色分工：事实提取、合规判断、合伙人质疑。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适合需要多视角检查的问题。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BF8E6D-871E-4B75-8B00-C4410A7B8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954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C890CB-8060-4E9A-BB3A-7B168527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9545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F63EDC-AC4D-48F1-B1EE-B0471529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478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Human-in-the-loop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3FA352-AF12-4922-96BE-64FB9487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52650"/>
            <a:ext cx="2038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人工兜底：证据缺口、低置信度、最终判断。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适合高责任、高风险业务。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0A8BF7-4B71-4DF4-922D-9019ACAF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911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本项目组合：规则引擎处理确定性，Workflow 保证顺序，Multi-Agent 生成审计判断，HITL 保留责任边界。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48E95A-40E2-492B-9767-9797ECEA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98EDE1-A032-416F-A849-D83CCA05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9223626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6C5724-7A24-430A-97F0-A79F6A1B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4E21D3-D1AA-4CD6-9ABB-18CB7663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PRODUCTIZATION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D449B0-6DBE-487F-987B-A54E0F79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从课堂 Demo 到企业 AI 产品，重点是边界、指标和部署。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8286C6-B0E9-44F0-9124-C0BBA79B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619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263977-EF52-4CDB-98E7-9DE6FA88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8A6C1F-F604-4F9B-8E79-D01F0481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05000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0D41F4-245F-4234-A0B6-FF000D1B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05000"/>
            <a:ext cx="476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06F802-9D56-403B-84E9-447EF36F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574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19A1F6-8AF6-4F8A-A6D6-BB8F9013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62200"/>
            <a:ext cx="25146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可信辅助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不替代审计结论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敏感材料默认本地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AD9B71-7AE3-4BCE-9F01-525FAE52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05000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27A926-7157-49B2-A3C6-AA0A6130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05000"/>
            <a:ext cx="476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E6367E-F4D0-45F8-9990-DCCE58D5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574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指标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1AAA44-1E14-457F-9ABA-35CEECA5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62200"/>
            <a:ext cx="25146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材料解析成功率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风险命中率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人工节省时间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复核退回率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466492-6401-4916-B753-897C3A36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05000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19A534-2E91-492B-9002-753B66A3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05000"/>
            <a:ext cx="476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13730F-741D-45B1-B31E-BAD9E6A0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574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部署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31D143-E2F6-4B16-B02C-5F237EFF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62200"/>
            <a:ext cx="25146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私有化模型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权限与日志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模板版本控制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审计轨迹留存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31153B-CBE8-425E-83B2-421B9FDB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95300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EB5D76-03DD-4D50-AA5D-A9741957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9530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AFA805-A62D-4F6B-83FA-BB1FABCA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105400"/>
            <a:ext cx="822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数字金融价值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EE6DF4-98E6-415E-8FD6-F49CA9C1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410200"/>
            <a:ext cx="822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企业效率提升不是来自“让模型自己做审计”，而是来自把材料整理、证据检索、底稿生成和复核流转做成可控闭环。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8C829F-8D1F-404F-BD44-DF5F096C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1F5619-E0A8-4469-9460-C3F674DC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9600567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8A1789-321D-4590-BAE0-9081E4DB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6afa4ba994ee3"/>
          <a:stretch xmlns:a="http://schemas.openxmlformats.org/drawingml/2006/main"/>
        </p:blipFill>
        <p:spPr>
          <a:xfrm xmlns:a="http://schemas.openxmlformats.org/drawingml/2006/main">
            <a:off x="876300" y="838200"/>
            <a:ext cx="1238250" cy="12382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8A55FC-9242-4A7A-A4B4-28CFAE9B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914400"/>
            <a:ext cx="8001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总结：可信 Agent 的关键，是把 AI 放进可检查的业务流程。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EC3721-17E5-4323-AEA5-D3A22849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7907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下一步可以继续扩展：评测器、更多审计底稿、私有化模型、权限与审计日志。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3FF9C3-11A7-4991-996C-E597F0E9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8BA874-126D-4E16-B568-E118CB15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9D2BA9-1216-4CF6-BC8D-F5C95DCF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194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评测器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128947-885F-4E6B-8921-1810949A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24250"/>
            <a:ext cx="1752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Precision / Recall / F1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A7B00C-BEDF-40FE-877B-3D2A22CD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670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F4EE21-A876-426F-9C68-656806A8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670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B0F8E2-BA59-4B3A-96BD-25BE9AC5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194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底稿扩展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AEB025-BE63-4F3E-B635-5B23971E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524250"/>
            <a:ext cx="1752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应收、存货、收入截止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2A3111-748E-47EE-AE4A-76632F45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670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63901-7981-4A41-910A-751EB33A1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670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267AF-85B4-4B04-8ABB-77A5A0978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194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私有化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B8250F-20F7-4183-AD76-286A3CAC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24250"/>
            <a:ext cx="1752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Qwen / Ollama / vLLM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590B67-8238-49E9-843E-4A216670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670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BFEDAC-D1A8-428A-9E96-1F9D2E50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670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859DC6-9D8F-437E-9EFD-F2047686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194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治理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9CCF58-7380-44C8-9AE0-982A2F4D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524250"/>
            <a:ext cx="1752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权限、日志、人工签批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2F2348-1FD1-42D6-98E8-750F4484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067300"/>
            <a:ext cx="8953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F33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E31830-B66E-4906-B66B-A7BCD73E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76850"/>
            <a:ext cx="809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Q&amp;A 重点准备：为什么不直接全自动？如何控幻觉？为什么要保留人工复核？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DDEF79-8C0C-4C3A-A5FD-7B9429FB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11FB73-3F58-4A61-9D12-1E7E25864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684115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2026-06-05T03:58:16.0870000Z</dcterms:created>
  <dcterms:modified xsi:type="dcterms:W3CDTF">2026-06-05T03:58:16.0870000Z</dcterms:modified>
</coreProperties>
</file>