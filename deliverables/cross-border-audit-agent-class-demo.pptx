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225c3448c04654" /><Relationship Type="http://schemas.openxmlformats.org/officeDocument/2006/relationships/extended-properties" Target="/docProps/app.xml" Id="Rcc26711355da4b51" /><Relationship Type="http://schemas.openxmlformats.org/officeDocument/2006/relationships/officeDocument" Target="/ppt/presentation.xml" Id="Re1273c3a9a684b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37a2895ade0425f"/>
  </p:sldMasterIdLst>
  <p:notesMasterIdLst>
    <p:notesMasterId xmlns:r="http://schemas.openxmlformats.org/officeDocument/2006/relationships" r:id="R1bf62449703f4534"/>
  </p:notesMasterIdLst>
  <p:sldIdLst>
    <p:sldId xmlns:r="http://schemas.openxmlformats.org/officeDocument/2006/relationships" id="256" r:id="Rfc0a47162b3f420f"/>
    <p:sldId xmlns:r="http://schemas.openxmlformats.org/officeDocument/2006/relationships" id="257" r:id="R8786f2811d8b4b7d"/>
    <p:sldId xmlns:r="http://schemas.openxmlformats.org/officeDocument/2006/relationships" id="258" r:id="Rd6440c9004ca46c1"/>
    <p:sldId xmlns:r="http://schemas.openxmlformats.org/officeDocument/2006/relationships" id="259" r:id="Rafbdce2cb0674d88"/>
    <p:sldId xmlns:r="http://schemas.openxmlformats.org/officeDocument/2006/relationships" id="260" r:id="R3f49013ce9644947"/>
    <p:sldId xmlns:r="http://schemas.openxmlformats.org/officeDocument/2006/relationships" id="261" r:id="R37931e72f9ce4847"/>
    <p:sldId xmlns:r="http://schemas.openxmlformats.org/officeDocument/2006/relationships" id="262" r:id="Rf39f224dbfc749f6"/>
    <p:sldId xmlns:r="http://schemas.openxmlformats.org/officeDocument/2006/relationships" id="263" r:id="Rc8495787b50b4b4e"/>
    <p:sldId xmlns:r="http://schemas.openxmlformats.org/officeDocument/2006/relationships" id="264" r:id="Rdefa6c9cff724b20"/>
    <p:sldId xmlns:r="http://schemas.openxmlformats.org/officeDocument/2006/relationships" id="265" r:id="R4cc157d0f8dc491d"/>
    <p:sldId xmlns:r="http://schemas.openxmlformats.org/officeDocument/2006/relationships" id="266" r:id="R6f2d7fb6c3f443ae"/>
    <p:sldId xmlns:r="http://schemas.openxmlformats.org/officeDocument/2006/relationships" id="267" r:id="Rf9289a469cc744c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fc7336c1af427e" /><Relationship Type="http://schemas.openxmlformats.org/officeDocument/2006/relationships/slideMaster" Target="/ppt/slideMasters/slideMaster1.xml" Id="Re37a2895ade0425f" /><Relationship Type="http://schemas.openxmlformats.org/officeDocument/2006/relationships/notesMaster" Target="/ppt/notesMasters/notesMaster1.xml" Id="R1bf62449703f4534" /><Relationship Type="http://schemas.openxmlformats.org/officeDocument/2006/relationships/presProps" Target="/ppt/presProps.xml" Id="R23c90e0ac25844c0" /><Relationship Type="http://schemas.openxmlformats.org/officeDocument/2006/relationships/viewProps" Target="/ppt/viewProps.xml" Id="Rcbf481aa8cc5436e" /><Relationship Type="http://schemas.openxmlformats.org/officeDocument/2006/relationships/tableStyles" Target="/ppt/tableStyles.xml" Id="R11fca7bd4b8249d4" /><Relationship Type="http://schemas.openxmlformats.org/officeDocument/2006/relationships/slide" Target="/ppt/slides/slide1.xml" Id="Rfc0a47162b3f420f" /><Relationship Type="http://schemas.openxmlformats.org/officeDocument/2006/relationships/slide" Target="/ppt/slides/slide2.xml" Id="R8786f2811d8b4b7d" /><Relationship Type="http://schemas.openxmlformats.org/officeDocument/2006/relationships/slide" Target="/ppt/slides/slide3.xml" Id="Rd6440c9004ca46c1" /><Relationship Type="http://schemas.openxmlformats.org/officeDocument/2006/relationships/slide" Target="/ppt/slides/slide4.xml" Id="Rafbdce2cb0674d88" /><Relationship Type="http://schemas.openxmlformats.org/officeDocument/2006/relationships/slide" Target="/ppt/slides/slide5.xml" Id="R3f49013ce9644947" /><Relationship Type="http://schemas.openxmlformats.org/officeDocument/2006/relationships/slide" Target="/ppt/slides/slide6.xml" Id="R37931e72f9ce4847" /><Relationship Type="http://schemas.openxmlformats.org/officeDocument/2006/relationships/slide" Target="/ppt/slides/slide7.xml" Id="Rf39f224dbfc749f6" /><Relationship Type="http://schemas.openxmlformats.org/officeDocument/2006/relationships/slide" Target="/ppt/slides/slide8.xml" Id="Rc8495787b50b4b4e" /><Relationship Type="http://schemas.openxmlformats.org/officeDocument/2006/relationships/slide" Target="/ppt/slides/slide9.xml" Id="Rdefa6c9cff724b20" /><Relationship Type="http://schemas.openxmlformats.org/officeDocument/2006/relationships/slide" Target="/ppt/slides/slide10.xml" Id="R4cc157d0f8dc491d" /><Relationship Type="http://schemas.openxmlformats.org/officeDocument/2006/relationships/slide" Target="/ppt/slides/slide11.xml" Id="R6f2d7fb6c3f443ae" /><Relationship Type="http://schemas.openxmlformats.org/officeDocument/2006/relationships/slide" Target="/ppt/slides/slide12.xml" Id="Rf9289a469cc744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87554b2b6642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95d675feeea4bdf" /><Relationship Type="http://schemas.openxmlformats.org/officeDocument/2006/relationships/notesMaster" Target="/ppt/notesMasters/notesMaster1.xml" Id="R41006b048f664d0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19c42099e64203" /><Relationship Type="http://schemas.openxmlformats.org/officeDocument/2006/relationships/notesMaster" Target="/ppt/notesMasters/notesMaster1.xml" Id="Re9e32454db1f42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7cba95ea96a4a7a" /><Relationship Type="http://schemas.openxmlformats.org/officeDocument/2006/relationships/notesMaster" Target="/ppt/notesMasters/notesMaster1.xml" Id="R959f9243a0d04f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472d6aca411410f" /><Relationship Type="http://schemas.openxmlformats.org/officeDocument/2006/relationships/notesMaster" Target="/ppt/notesMasters/notesMaster1.xml" Id="Rc7c94851553e457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58627e7ffac40b9" /><Relationship Type="http://schemas.openxmlformats.org/officeDocument/2006/relationships/notesMaster" Target="/ppt/notesMasters/notesMaster1.xml" Id="R7c6c35a6090a441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ba6352c24a4269" /><Relationship Type="http://schemas.openxmlformats.org/officeDocument/2006/relationships/notesMaster" Target="/ppt/notesMasters/notesMaster1.xml" Id="R37a587841216414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09891fb38d40bd" /><Relationship Type="http://schemas.openxmlformats.org/officeDocument/2006/relationships/notesMaster" Target="/ppt/notesMasters/notesMaster1.xml" Id="R24f9ffc7bc5b489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1accacb01634744" /><Relationship Type="http://schemas.openxmlformats.org/officeDocument/2006/relationships/notesMaster" Target="/ppt/notesMasters/notesMaster1.xml" Id="R56004ede7bb7448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adc3108f7d24196" /><Relationship Type="http://schemas.openxmlformats.org/officeDocument/2006/relationships/notesMaster" Target="/ppt/notesMasters/notesMaster1.xml" Id="R1abb16ec9d91403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376caa098e24bd4" /><Relationship Type="http://schemas.openxmlformats.org/officeDocument/2006/relationships/notesMaster" Target="/ppt/notesMasters/notesMaster1.xml" Id="Rceb0808e89de4a8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b286650a03649b1" /><Relationship Type="http://schemas.openxmlformats.org/officeDocument/2006/relationships/notesMaster" Target="/ppt/notesMasters/notesMaster1.xml" Id="R4d09f73f22b04e0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16e862c7a5d45e9" /><Relationship Type="http://schemas.openxmlformats.org/officeDocument/2006/relationships/notesMaster" Target="/ppt/notesMasters/notesMaster1.xml" Id="R9b25e2c8574b41c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99840ac0c649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0f9470476b48f0" /><Relationship Type="http://schemas.openxmlformats.org/officeDocument/2006/relationships/slideLayout" Target="/ppt/slideLayouts/slideLayout1.xml" Id="Ra13dcd485d66459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3dcd485d66459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6fd226e83b4b5e" /><Relationship Type="http://schemas.openxmlformats.org/officeDocument/2006/relationships/image" Target="/ppt/media/image.png" Id="R4d734ffc43654827" /><Relationship Type="http://schemas.openxmlformats.org/officeDocument/2006/relationships/notesSlide" Target="/ppt/notesSlides/notesSlide1.xml" Id="R58eddc5f149444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6c0c47bbea410e" /><Relationship Type="http://schemas.openxmlformats.org/officeDocument/2006/relationships/image" Target="/ppt/media/image2.png" Id="Rad53117afd4b4286" /><Relationship Type="http://schemas.openxmlformats.org/officeDocument/2006/relationships/notesSlide" Target="/ppt/notesSlides/notesSlide2.xml" Id="Rfc29b3e45bfc4e4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838cfb3cf24e77" /><Relationship Type="http://schemas.openxmlformats.org/officeDocument/2006/relationships/notesSlide" Target="/ppt/notesSlides/notesSlide3.xml" Id="R713b36cbf0a84f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1d0d42c28247d4" /><Relationship Type="http://schemas.openxmlformats.org/officeDocument/2006/relationships/notesSlide" Target="/ppt/notesSlides/notesSlide4.xml" Id="R593c811caf41485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64a3a2d8ab4239" /><Relationship Type="http://schemas.openxmlformats.org/officeDocument/2006/relationships/notesSlide" Target="/ppt/notesSlides/notesSlide5.xml" Id="Re0d2143acb7642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e30952a774db2" /><Relationship Type="http://schemas.openxmlformats.org/officeDocument/2006/relationships/notesSlide" Target="/ppt/notesSlides/notesSlide6.xml" Id="R918831cb675b4b7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8fddc3d936461d" /><Relationship Type="http://schemas.openxmlformats.org/officeDocument/2006/relationships/notesSlide" Target="/ppt/notesSlides/notesSlide7.xml" Id="R28df781456b545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91fec547c14800" /><Relationship Type="http://schemas.openxmlformats.org/officeDocument/2006/relationships/notesSlide" Target="/ppt/notesSlides/notesSlide8.xml" Id="R6515421405cc41b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7726e8a7fa4151" /><Relationship Type="http://schemas.openxmlformats.org/officeDocument/2006/relationships/image" Target="/ppt/media/image3.png" Id="Rf54f2a3f34b24693" /><Relationship Type="http://schemas.openxmlformats.org/officeDocument/2006/relationships/notesSlide" Target="/ppt/notesSlides/notesSlide9.xml" Id="Rf53d133fd65647d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7513e90c954920" /><Relationship Type="http://schemas.openxmlformats.org/officeDocument/2006/relationships/notesSlide" Target="/ppt/notesSlides/notesSlide10.xml" Id="R4c16ee6f20bc4f8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3660ab6d654e49" /><Relationship Type="http://schemas.openxmlformats.org/officeDocument/2006/relationships/notesSlide" Target="/ppt/notesSlides/notesSlide11.xml" Id="R4d49bf47d8ef4e7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b887d0a0e042aa" /><Relationship Type="http://schemas.openxmlformats.org/officeDocument/2006/relationships/image" Target="/ppt/media/image4.png" Id="Ra3a0a80016154ced" /><Relationship Type="http://schemas.openxmlformats.org/officeDocument/2006/relationships/notesSlide" Target="/ppt/notesSlides/notesSlide12.xml" Id="R1aca09c209da45c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3BD3A7-29C0-40A3-802A-814605CF2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734ffc43654827"/>
          <a:stretch xmlns:a="http://schemas.openxmlformats.org/drawingml/2006/main"/>
        </p:blipFill>
        <p:spPr>
          <a:xfrm xmlns:a="http://schemas.openxmlformats.org/drawingml/2006/main">
            <a:off x="590550" y="526256"/>
            <a:ext cx="5334000" cy="1500188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821CD9-9907-41BA-9F2A-4FA6EF8B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8191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可信财务 AI：把 Agent 关进确定性流程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B9D64A-0A75-41E8-8440-A00A3D7B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09900"/>
            <a:ext cx="742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rPr>
              <a:t>数字金融课堂展示 · 两人讲解 · 现场打开局域网前端演示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82FA52-55CB-49C7-9344-9EC3128F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4876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F33"/>
          </a:solidFill>
          <a:ln xmlns:a="http://schemas.openxmlformats.org/drawingml/2006/main" w="9525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1472B3-0178-4329-9E51-4F99A694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rPr>
              <a:t>演示地址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892933-BEB0-4FC9-8DD9-12F7851A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4191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http://10.5.52.230:8501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E9F63-7164-45FE-AFCA-2CBAF6AF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052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970FB-1983-4BE1-B7EB-14F8847F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981450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Speaker A：问题与系统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601A2-AB55-48D5-A5B4-F4D68775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052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3DC0B2-812A-4230-8677-A4897DCC3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981450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Speaker B：架构与范式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D840C4-FAF0-4D40-BD83-FF5686D6D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1970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开场先演示收敛后的底稿生成，再回到一个更真实的问题：为什么最初那个多 Agent 虽然能跑，但还不能被审计人员信任。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654584-4BF9-4A81-B885-E80E1AAF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3FB038-7C39-412D-BD16-1367E8BF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1047553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6A4112-32CA-449E-8406-A753A42A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D562EC-06CC-48F3-B8F8-1B706544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LIVE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EE77D0-CBF9-45DA-822B-84F8AB14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先演示收敛后的底稿 Workflow，再讲为什么我不再相信自由 Agent。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3F0177-32DD-4A3C-99F4-659FA2FB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CC0F96-9911-44BB-958B-FB7E0157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53117afd4b4286"/>
          <a:stretch xmlns:a="http://schemas.openxmlformats.org/drawingml/2006/main"/>
        </p:blipFill>
        <p:spPr>
          <a:xfrm xmlns:a="http://schemas.openxmlformats.org/drawingml/2006/main">
            <a:off x="1860550" y="1524000"/>
            <a:ext cx="4622800" cy="433387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D9201D-F3C9-4B29-81A6-2F6313A2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8115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6C6023-FAD2-488A-B959-88FA819E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811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6502EB-C498-4B5E-B550-C9A771A4F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73355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课堂动作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B4A894-CFDF-4646-A7D3-0720AD2C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38350"/>
            <a:ext cx="28003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1. 打开封面 IP 地址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2. 点击“使用内置示例生成底稿”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3. 下载 Excel 工作底稿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4. 回到 PPT 解释为什么这样设计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B8DBE0-43B3-4F8B-86E2-E744EFCE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7185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8165D1-0F6E-429B-89DD-D0ACCB1A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7185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FC5F0B-2CC4-4FCD-BAC3-7C1BFC6A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2425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这版演示是什么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76FCB5-DDDD-4910-9F16-9409C0D4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29050"/>
            <a:ext cx="2800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内置合成材料 + mock 模式 + Excel 底稿。重点展示可运行路径，不展示真实客户敏感数据。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E1145C-4503-49B1-BC25-CA8DC7DC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81550"/>
            <a:ext cx="3143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FCC74E-8D68-430F-868C-256DB827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81550"/>
            <a:ext cx="47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CF00EC-55D1-45DD-AB48-A263FB18A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3395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它不是什么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2E73DF-3B3A-428A-8AFF-5D50FB9B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238750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不是让模型自由查账、自由下结论；而是把材料、规则、证据和复核点串起来。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5EF565-D0F3-42E9-A52E-FCEC3E3D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F59E16-912B-410F-9C9E-6119AB81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945447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5A4538-9940-487B-9CF3-F58D107ED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2BF768-E91A-43F2-A5C1-42205B2B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PERSONAL STARTING POINT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16D0E6-EF6A-4304-9BBF-6B2A00A0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最初的跨境资金多 Agent 能跑，但问题不是运行，而是不可信。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829E30-9ED3-4D07-AECA-96045CD3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B91959-5D8D-4871-BA9F-3C1167A8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BBB371-2476-4F21-93B5-971A8D34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2857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B64941-D3BD-40F1-AEDF-52725EBB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1AA7CE-7BFE-44CC-814D-CEF76AD9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98120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第一版：多 Agent + 前端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D330CF-D700-47BB-A343-9422BB71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25908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让不同 Agent 分别做数据提取、合规分析和审计合伙人复核，前端可以上传材料并输出风险判断。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839B41-3F94-4DC6-975A-4EAAC78A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5717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79FC4D-316B-44FB-86AF-EC057ACF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66900"/>
            <a:ext cx="2857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3C730C-5745-49C8-9427-E2F45DD96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812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C2B64D-86B3-40F8-AA69-E972FFF4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98120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发现问题：结论像真的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E35EBE-02D5-446C-BDC6-74E3E47C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324100"/>
            <a:ext cx="25908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模型说一笔交易有风险，但很难知道它基于哪条规则、哪段材料、哪个字段。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C22913-ED64-40BB-8FC6-A637DDA9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717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3BC87A-EAE9-4540-ACB2-FB4A7797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866900"/>
            <a:ext cx="2857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92416E-C876-45EA-8528-99FB97512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812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843599-E689-412C-935D-26A330D1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8120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需求收敛：先刷底稿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C7D683-A5C3-4156-ABA9-A77FC1CE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24100"/>
            <a:ext cx="25908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把目标从“自由审计 Agent”收敛到自动填写底稿、报销单审核这类更稳定的流程节点。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471BE6-DDA2-47E8-B489-11F570F1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196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CE4974-8A3E-44F0-B0B9-5021B78C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4825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能跑不等于能进高责任场景；财务 AI 的门槛不是“会回答”，而是“能被复核”。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F4656E-D29C-45CF-86AA-60DD9F08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8FB2D1-49CE-4902-B4A9-19FB8B79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3937226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97FE5C-1EDE-456D-8439-E48502B29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A61E83-ECEA-4E47-BCB4-7D812EAD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HARD QUESTION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943A70-013B-49C9-BEAD-D3ED4BF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一个风险结论如果不能回答三个问题，就不能进入审计流程。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2E102-21D9-4538-AA87-AF175217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69ECB7-AB77-43E9-B8AE-601830E5F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0AC672-CD2C-4454-8CEE-840B59B0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26B1FF-EC49-4CCD-82C9-E015FA69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C9A13D-1B65-4629-AF76-D26D0B92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19300"/>
            <a:ext cx="2609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这个结论从哪里来？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5AB1BD-23F3-42F0-9793-DA6AA3A3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24100"/>
            <a:ext cx="26098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需要看到原始字段、命中的规则、引用的材料片段，而不是只看一段自然语言判断。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0A0D4A-59E8-4C2D-B317-67169029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6690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A1ACF9-3259-409A-87F7-F8CC02A8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6690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8107B2-8683-4DA9-B961-7E1E80E4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19300"/>
            <a:ext cx="2609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中间哪一步错了？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F08363-47D8-4BDF-80BD-153536DC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24100"/>
            <a:ext cx="26098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错误可能来自数据提取、规则理解、RAG 检索、模型推理或最终汇总，必须能定位。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58BBAE-9D50-4709-B36C-9B6BFED25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6690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F121DA-F8EF-4085-8827-FA929A8B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6690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CA1B14-D2D3-41FD-8B4B-E52470FE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19300"/>
            <a:ext cx="2609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审计人员怎么复核？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8DAEE2-E14B-4185-BDE3-1F3A5913E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24100"/>
            <a:ext cx="26098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输出必须告诉复核人哪些证据充分、哪些证据缺口、哪些地方需要追加程序。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28D39F-7552-4BFC-B906-A59103548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762500"/>
            <a:ext cx="8096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CA1ECF-6A6D-4798-AFB4-35E51D88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76250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4FAFC1-8854-492C-9FD8-E12D82F66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14900"/>
            <a:ext cx="7753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最初多 Agent 的结构性问题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383B86-71AA-424D-A61D-DFBE05A1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19700"/>
            <a:ext cx="775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每个 Agent 都在生成自然语言，输出链路很长；一旦结论错了，很难判断是提取错、检索错、理解错，还是汇总时把语气写得太确定。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6F6180-9270-4CD2-B953-76BA61BB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6F03E7-8E87-49E6-A5DF-AEBC6828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782149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F6622C-DAA1-4E8A-9EBB-3C3616D35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A8749F-DBA4-4E7B-BF1B-F650CFBC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WHITE BOX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A50F6C-91E1-4EEE-90CF-7465A888C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财务 AI 的第一原则：黑盒必须变成白盒。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7043A4-8B18-4FE7-921D-BB3B5DF2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F9D829-EC69-4558-8BC8-293454BB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6F288A-752C-4A98-A3CB-6116A241A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30358E-A433-43CC-83B3-0FCE8049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52625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28867D-AB47-4222-A792-572F702D2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52675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用了什么数据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4EDA2F-2869-482F-8E77-50CA2BA5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字段、表名、期间、金额口径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70F17C-99B9-460D-9F3B-A496698E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097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1222F8-6162-4FFD-A970-4197AE9CC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52625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FB5043-9F0A-48A9-9D81-1C259DDF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52675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命中哪条规则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328823-9AB1-4D8B-9422-A8E67EB1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647950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准则、制度、阈值、例外条件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B67F7F-8852-4210-B9C0-B7E0CE91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097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461B6E-8B97-43FB-A07F-42271724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52625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B8B8B6-0501-4A5B-B556-9A0B9D83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52675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引用哪段证据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73C4AD-57A6-4FC3-8C83-2F919E36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647950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原始材料片段和来源路径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E449D5-B6D8-4667-825C-16498257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097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1BB39F-8C27-4360-832B-BCFC1E95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952625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74D310-527A-43CD-9372-A2A3A00B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52675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置信度与缺口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4B51FD-EF55-4FB5-96E0-D58F3D00D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47950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低置信度原因和缺失材料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3B7295-757B-4A87-AB08-B1D073AF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8097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21CEC9-9D99-476E-82F0-2333BA102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952625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DCD209-A01F-44C5-A31C-4CC23FD7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52675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哪里人工复核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0FC325-75E3-4BD2-837F-C768E7DA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47950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复核动作、责任人、留痕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A5B6D7-498A-49B0-924A-0DE234E9E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67150"/>
            <a:ext cx="8953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CFC7C1-F6C6-4432-8477-A65BD409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9575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审计和报销审核本质上都是高责任场景。AI 不能只给结论，必须把判断过程拆开，让人能追溯、能质疑、能复核。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30AE1D-506E-4170-AAB7-41F52BD3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143500"/>
            <a:ext cx="7239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C250F9-CD20-4B8D-865D-2D269E2E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143500"/>
            <a:ext cx="47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3C4F6E-CED1-47FB-B442-621A201F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295900"/>
            <a:ext cx="6896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一句话讲法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221701-C62D-4FF5-BEB5-5A71F0E1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600700"/>
            <a:ext cx="6896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财务 AI 不是把专业判断交给模型，而是让模型先做材料整理、证据引用和初步判断，再把低确定性的部分交还给人。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DC7CB5-F93B-4DB8-AC73-1EFABB47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11AF2B-2DB1-47CF-AB5B-06A2A00A1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3663648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0EBC3B-386B-420A-9BBE-559A9DE3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0682DB-183E-49A1-B951-132DC100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WORKFLOW FIRST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94236C-F381-4333-A115-B6090B6A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在财务场景里，Workflow 通常优于完全自主 Agent。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EE0F50-8B25-4957-8AC5-BC85BB03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9C1E54-A12E-4560-B993-884247B0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897554-F2E1-4114-A3E6-70BC301E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12763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E9CBCA-1661-4417-B1EB-24398917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47E241-A43D-4169-8ED8-6D0E6F9B1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材料识别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B2CA7-6EDE-42C0-B34A-C22D1030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009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票据/流水/底稿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FA41FC-895E-44BC-B5C6-EA204D51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133600"/>
            <a:ext cx="285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7AF835-9319-436C-8818-5F4898F3C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733550"/>
            <a:ext cx="12763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A41F67-B519-4F2C-B3CD-2220AE0E2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8478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2E988B-16C8-47E3-A8FE-B6136D31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84785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制度检索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EFD15D-1E07-4A89-8D98-D04F49D9F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190750"/>
            <a:ext cx="1009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准则/报销政策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2B3E44-BFD0-43D6-A797-CC4CF1B4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33600"/>
            <a:ext cx="285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69B5AE-8D7B-475E-A2B4-B907B7C0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33550"/>
            <a:ext cx="12763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27D538-C5A2-4967-A14B-88EAC4D1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8478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3EBF4A-8D1A-4E59-9A94-D10C9482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84785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字段比对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DF6A86-612B-4BF6-B713-CE2116DEC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90750"/>
            <a:ext cx="1009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金额/日期/主体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F10C6F-1846-4E1A-B26C-A09B333D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133600"/>
            <a:ext cx="285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0E02B6-B8A5-47CD-9147-836900C2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733550"/>
            <a:ext cx="12763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D3FE19-A0FA-4B72-BC6F-E3CA46AB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8478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E34417-631C-4F03-B4E6-A97A2A55B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84785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异常判断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1CF35E-FC11-4F9A-A956-EF1CFE7B7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90750"/>
            <a:ext cx="1009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规则 + 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C5FF9B-7E49-44B1-9213-B78077C1F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33600"/>
            <a:ext cx="285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D9F9FC-DDD3-470E-94BF-48A885CAF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733550"/>
            <a:ext cx="12763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9E70F0-4A58-44F7-8136-41A2D82E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8478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FD3EE0-F1B6-4917-970E-AC00CE62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84785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证据引用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557A45-B190-43E1-BCD5-A87494AC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90750"/>
            <a:ext cx="1009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来源留痕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193257-51AD-4A6D-A7AC-C28BFB21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33600"/>
            <a:ext cx="285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B1E3FE-0B2E-4861-AE20-8383474C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733550"/>
            <a:ext cx="12763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7E0E8A-8CA2-4332-AAEC-3B3CAA2F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8478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D1FFEA-EE87-4BCD-993E-1020A349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4785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人工复核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57CBE62-C6C3-423F-951F-D724C9DC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90750"/>
            <a:ext cx="1009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低置信度兜底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43906E-D747-4FB3-9B9C-52CFFFA6F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133600"/>
            <a:ext cx="285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A0C59D-E0EE-4E54-B818-86CF6D76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733550"/>
            <a:ext cx="12763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44D28C-71A3-4F84-92D9-B6C2478C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8478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BAF278-684E-4F77-B087-2A6BF59A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84785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结果归档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7A7322C-B903-4730-9C71-A4296500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190750"/>
            <a:ext cx="1009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Excel/日志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5402DD8-8A9F-41EC-8596-1941D253D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57600"/>
            <a:ext cx="4095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90E6C70-D34C-49E2-805C-B50EE965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5760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03FF724-2975-43AA-A569-E1719483A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0000"/>
            <a:ext cx="3752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Agent 的位置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95E38F4-E30F-4CC9-B196-1B3DDB87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14800"/>
            <a:ext cx="3752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Agent 只应该在某些节点里做智能任务，比如识别异常、检索制度、解释证据，而不是自己控制整个财务流程。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6B020A1-B19D-4216-AFDD-F0E4EDCE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638550"/>
            <a:ext cx="4953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A6E5B37-478E-4410-B9AC-5DE3B30E6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62400"/>
            <a:ext cx="4267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财务 AI 不是让模型自由发挥，而是把模型的不确定性，关进一个确定性的流程里。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7FE4429-4EFE-4877-A6DB-90759A0B7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343B97B-B2C3-42F0-947C-5C01FCDD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0296246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A2586E-65D5-4DB2-B369-2E345E2C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2BDCB4-C97F-4E89-91AC-4B7CF668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WHY NOT FULL AUTO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D73BDC-C641-4F6B-BB3F-39772BAC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全流程自动化很难，因为三件事绕不开。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10E2D4-EF01-4CF7-906B-EEC4D419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AF7085-37E7-40C9-8624-DCD58D90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AB6245-CACD-431B-919C-74AE2B56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7165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8F978B-8728-4FAA-8B42-C892C54A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7165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288868-309E-4BA8-854E-CFA0DFA0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2609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幻觉不可接受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FCD082-6817-4A33-966D-C38AE2D5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28850"/>
            <a:ext cx="26098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财务和审计不是写作场景。模型一旦把缺失证据说成确定事实，后果会直接进入工作底稿和复核链条。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3D17CE-A385-42B8-8B2B-F75EA670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77165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D6B563-2897-43C6-985C-32D185D1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77165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932945-DB82-45CA-8D1F-DC13EB74D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924050"/>
            <a:ext cx="2609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数据高度保密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4F6B83-ABF5-4DAA-93FD-59744A21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228850"/>
            <a:ext cx="26098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真实客户材料不适合随意走远端 API 或公开 Agent 工具。更现实的方向是脱敏、权限隔离和私有化部署。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62682E-6589-477D-9760-1FAB3854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7165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68F6AC-6B7C-4E96-9B65-E454C076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7165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AD7EF5-5D72-4CF1-B968-CC52547B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24050"/>
            <a:ext cx="2609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责任归属必须是人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71D302-039E-4928-8320-743D3EAD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28850"/>
            <a:ext cx="26098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像实习生底稿一样，最后需要正式人员复核把关。Agent 只能辅助，不能替代责任主体。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C4208A-8FFE-47B7-8C78-4F3CA734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724400"/>
            <a:ext cx="8382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2A562F-3CCA-4C49-8762-14D35904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9911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所以我不把这个项目包装成“全自动审计”，而是讲成可信辅助：降低低风险重复劳动，把关键判断留给人。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C37DB3-2089-4BA7-9077-A8DF40A2A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3AE3B1-D61F-4A06-B451-97B6FEA7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464949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445216-FE1A-498D-A3FD-4B693361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F327E5-5C0C-4737-B414-D40FBFED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WHY IT STILL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F61CC1-734A-4D19-BE82-2E955E6F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不能全自动，不代表没有商业价值：替代实习生 dirtywork 可能更早发生。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CBCCBB-3A9D-4B51-8F9E-7184C19A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A4DD36-BD9A-4EEB-B58E-93785D49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E0346B-EBC2-4D43-89D4-10E3A3DC8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19250"/>
            <a:ext cx="8953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39900E-FB3E-4FE0-A04A-A1037161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866900"/>
            <a:ext cx="8286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人做的时间 -（AI 做的时间 + 人核对并修改的时间）&gt;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0F75D6-404A-473E-B726-B18193E5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43250"/>
            <a:ext cx="2952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CE6158-911B-4A64-B57A-9F90389C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43250"/>
            <a:ext cx="476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78896E-E35A-4D2C-BE3F-7B6C1AAC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95650"/>
            <a:ext cx="2609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最先被改造的任务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4376A-6FA6-4EB3-B7D6-21581ACEE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00450"/>
            <a:ext cx="26098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货币资金底稿、简单抽凭、复制粘贴、筛选和查找函数等高频模板化工作。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587871-8275-4760-A3A1-6F8F015F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43250"/>
            <a:ext cx="2952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80B65C-27F6-4C9F-B9CD-28DDE1FE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43250"/>
            <a:ext cx="476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BF1F25-7434-4169-B17E-BCA18C0E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95650"/>
            <a:ext cx="2609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Harness 约束降低风险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FDB58E-F69C-4265-A9FF-26B16B758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600450"/>
            <a:ext cx="26098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用模板、字段 schema、规则扫描、cell_map 和 mock/私有部署，把模型限制在可检查的动作里。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1A5556-F554-4DC6-A415-F6DEDF46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43250"/>
            <a:ext cx="2952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AAEB54-422C-4475-805C-78E49444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43250"/>
            <a:ext cx="476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AE1504-7E53-4C54-B623-9C39A7EF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95650"/>
            <a:ext cx="2609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复核人兜底责任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C04F01-C402-499F-99C2-2B88CE51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600450"/>
            <a:ext cx="26098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产出像实习生交底稿一样进入 Maker-Checker 流程；AI 负责提效，人负责最终判断。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377C0C-A589-4446-9ECC-869068DCD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619750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课堂里可以把这个观点讲得更尖锐：全流程自动化很难，但低风险重复劳动会先被重构。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5E3813-EFF4-4ACB-B792-FF73F6A7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6A2E48-9F88-4302-8BAA-EE9D16B8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7232659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6FD0DA-2A03-4E05-983A-D9B9C20E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63175F-A2B8-4BC2-A045-EB73ED6F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CURRENT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58F594-C1D1-428C-91B7-BBBBDC2B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这版项目就是把最初的大问题收敛成一个可复核的底稿 Workflow。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4B299A-AEE8-4B03-B8C7-DD857485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 / 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223097-41C7-4C1D-B9AC-EE417542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FCE32A-AB79-4EDD-B3A8-22E06CA4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1428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B38729-6841-4D6A-B894-95D354BB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2519FC-DA9D-4952-A1B5-F89B9578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66900"/>
            <a:ext cx="838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材料包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698919-8D6B-4B3D-80EF-6B99CFB3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16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合成案例/上传文件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8F9E5B-F669-40A3-8C52-70120D84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133600"/>
            <a:ext cx="304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8759CA-E5BC-4FBE-87B2-28F81369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752600"/>
            <a:ext cx="1428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FD6ADE-00C2-4742-988C-4D278D07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8669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633DAB-08E0-410A-AB1E-676FCD0F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866900"/>
            <a:ext cx="838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规则扫描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4563E7-3EFD-4168-AFE3-543AA27C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209800"/>
            <a:ext cx="116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8 类跨境风险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9F9DD9-9D83-4A31-8EC4-3DC0AD118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33600"/>
            <a:ext cx="304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E961A7-A3E2-4866-8E52-C39047E52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52600"/>
            <a:ext cx="1428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83135B-3291-4F34-8CD3-0AFD6092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8669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206DA6-C786-4CD2-9530-32DD31D3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66900"/>
            <a:ext cx="838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RAG 证据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331853-2FA8-4EFA-91FE-8226A3EF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09800"/>
            <a:ext cx="116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准则片段/fallback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1EAC8B-B487-4635-9DC3-E1B5F36E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133600"/>
            <a:ext cx="304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BB0D8E-9202-4080-8783-951A6DC14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52600"/>
            <a:ext cx="1428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C32E43-C087-43F0-833C-1E878CE2D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669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BDD5FD-8C25-4251-A452-4E9D5ED9E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866900"/>
            <a:ext cx="838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三 Agent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162703-CA3B-475C-BE61-01F65E1A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09800"/>
            <a:ext cx="116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提取/合规/复核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334D23-7C69-4DBB-92E6-D86BBECC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133600"/>
            <a:ext cx="304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C746E5-23BE-4FCC-AAEF-51CB6EA0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1428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AD0503-DD5F-4443-B238-9502A874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669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1D4D44-4C88-454E-B159-D0094407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66900"/>
            <a:ext cx="838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底稿输出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C53062-1A86-4CC4-865C-07504BD5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09800"/>
            <a:ext cx="116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Excel/Markdown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D47117-3D57-4FA5-9DFF-C32BE976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133600"/>
            <a:ext cx="304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07F5F9-4A48-412B-924F-C703F234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752600"/>
            <a:ext cx="1428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C3A15A-3B0F-4497-8AEB-E6369E0D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8669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44180C4-5693-4329-824C-CAB92F11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1866900"/>
            <a:ext cx="838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人工复核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350E0E-83D0-4613-BBC3-1C9F4DBE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209800"/>
            <a:ext cx="116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证据缺口留痕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4f2a3f34b24693"/>
          <a:stretch xmlns:a="http://schemas.openxmlformats.org/drawingml/2006/main"/>
        </p:blipFill>
        <p:spPr>
          <a:xfrm xmlns:a="http://schemas.openxmlformats.org/drawingml/2006/main">
            <a:off x="1857375" y="3676650"/>
            <a:ext cx="2133600" cy="2000250"/>
          </a:xfrm>
          <a:prstGeom xmlns:a="http://schemas.openxmlformats.org/drawingml/2006/main" prst="rect">
            <a:avLst/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F6E244-359A-4C89-9F23-D3E98C32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695700"/>
            <a:ext cx="16954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002322-C8FA-4B98-A1E5-ECD221B9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838575"/>
            <a:ext cx="1352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52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24694C4-AB12-4AC0-BE4C-D7D5BCE6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238625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tests passed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12B9E2-1E20-413A-A1E6-D1E2478C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533900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pytest 验证基础链路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14C60B8-45DF-49E1-B315-3F7AEFEF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95700"/>
            <a:ext cx="16954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06AF80-ADC8-4D38-9DF8-D1D7FA679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838575"/>
            <a:ext cx="1352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Mock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1C17213-A947-4AE8-B454-CFE63BD2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238625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默认演示模式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B7E31DB-B1B9-4097-AE11-18F7C2551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533900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课堂不调用远端 API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B429CB9-5B07-423B-A78F-2401EF1F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95700"/>
            <a:ext cx="16954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0BA5EDB-1CF3-4BF5-AEDE-35E16491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838575"/>
            <a:ext cx="1352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Cell Map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BE9D35B-7E9F-4002-B090-9F7F8C783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238625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公式区保护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01A9EBF-BB10-44AD-9D3D-3FC5DFAEE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533900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只写入模板可填区域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39F8535-7CE9-45E2-9AC0-C4BE4A7C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7908121-2D4C-4C68-B14D-519A6EC2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829690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683780-5CF7-45C5-9DA7-802921B5E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0F6020-0FCC-43F8-B540-8E9D78942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AGENT PATTERNS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06BE87-C69D-42CE-93D8-D089B239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后半段把主流 Agent 范式讲简单：从自由对话，到流程中的智能节点。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396422-B518-436C-99D0-AC34F7D9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07B939-63E7-42BD-8108-F169BFCE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9D32FD-D3E9-42AF-9380-928189FC5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2381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BC0146-5809-4F04-95F0-B7F1DCFB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4762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BC47EB-D610-4ABB-A977-B4955422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478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Single Agent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E61B37-B4ED-4BA5-96B3-6223FBD5D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2038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一个模型调用工具完成任务。适合问题小、风险低、上下文边界清楚的场景。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983F62-774B-45FE-83FD-74992415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695450"/>
            <a:ext cx="2381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1C4337-A6AB-467E-B772-0963A3DD0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695450"/>
            <a:ext cx="4762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DD49A5-13EB-4816-92CF-F610D1C6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478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Workflow 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EBFDE4-2089-467E-81C9-E7DBF711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152650"/>
            <a:ext cx="2038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固定步骤编排，输入输出可检查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适合财务和审计流程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F7F028-4D80-49D0-A399-D132BD0C2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95450"/>
            <a:ext cx="2381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371023-7854-4D49-89C6-C70356A2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95450"/>
            <a:ext cx="4762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A821A6-B7DF-415D-BCF0-7D17EC66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478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Multi-Agent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550821-ABAB-4FCF-B11E-4570CDEF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52650"/>
            <a:ext cx="2038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用角色拆分任务，例如事实提取、合规判断、复核质疑。适合需要多视角检查的问题。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71CE9B-9241-481E-9613-A706CBAA3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95450"/>
            <a:ext cx="2381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8C3C21-121B-4CAB-A5F4-54ED19D6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95450"/>
            <a:ext cx="4762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6293CD-2BA0-4B68-87FE-22DC9D47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478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Human-in-the-loop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271D7F-7082-4A59-B7E1-001DE56D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52650"/>
            <a:ext cx="2038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低置信度、证据缺口和最终判断交给人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高责任业务必须保留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462648-E2AA-4AFC-8494-AC1402B0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857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11DAE9-EB0E-45F4-A11E-13E7D367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219700"/>
            <a:ext cx="7667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本项目组合：Workflow 定顺序，RAG 给证据，多 Agent 给视角，人工复核定责任。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3AFAE3-194C-4054-A8DA-507E5AAA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D081F7-3834-48D6-97F5-13831718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4018705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401270-37FF-4195-B0A5-E20137182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CECF87-EC81-4F3D-95B1-E4B4D441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FLOW + REPO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D3F12D-290B-4290-89E1-5C4AC8E7A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一页看懂：业务流程怎么跑，代码结构怎么承接。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8DB703-4635-4DFB-8F1C-2675ADD9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00D6A6-4DF2-4D70-B376-F5E4E6D9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3E53A5-593D-4358-B0A6-EFE6696A2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运行流程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94430E-1EF4-4FB7-9321-59BF848BB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5811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项目结构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207389-0052-41E5-9AC7-E53B7B4C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4476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B18EB2-A05B-4838-AA1C-7BA702D6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955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输入层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BAAFFB-484B-469B-BCFF-07BE50E9F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085975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CSV / PDF / 示例材料</a:t>
            </a:r>
          </a:p>
          <a:p xmlns:a="http://schemas.openxmlformats.org/drawingml/2006/main">
            <a:pPr algn="l">
              <a:def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审计知识片段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AB62C9-8EEC-4B26-AC66-F03A00B6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8605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206825-2F06-489B-8EE8-85DF78E8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476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047237-A7FE-467D-A411-1FCA9EFF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480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Pipeline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368FDE-F1CC-49AC-B1A8-39D4B0AE2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38475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data_tools 结构化</a:t>
            </a:r>
          </a:p>
          <a:p xmlns:a="http://schemas.openxmlformats.org/drawingml/2006/main">
            <a:pPr algn="l">
              <a:def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RAG 检索与 fallback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79B740-8AF7-4F0A-9C4C-827D40563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63855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D5D770-181D-445F-B387-F680A540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4476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68D293-7A6F-48F8-9156-2A4650BBC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Agent 讨论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D72825-F02E-4B16-9FB1-643776F6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90975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Data Extractor</a:t>
            </a:r>
          </a:p>
          <a:p xmlns:a="http://schemas.openxmlformats.org/drawingml/2006/main">
            <a:pPr algn="l">
              <a:def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Compliance Checker</a:t>
            </a:r>
          </a:p>
          <a:p xmlns:a="http://schemas.openxmlformats.org/drawingml/2006/main">
            <a:pPr algn="l">
              <a:def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Audit Partner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C3B512-EABF-4AC1-9C59-82A89FDC2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9105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8AE5F1-1DAF-4CA9-87DB-DD315E70B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476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C48E58-72FD-4EBF-A868-069AE466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9530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输出层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E84B0E-E279-45BC-AB39-E3E7B8E4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943475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Markdown 报告</a:t>
            </a:r>
          </a:p>
          <a:p xmlns:a="http://schemas.openxmlformats.org/drawingml/2006/main">
            <a:pPr algn="l">
              <a:def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Excel 标准底稿</a:t>
            </a:r>
          </a:p>
          <a:p xmlns:a="http://schemas.openxmlformats.org/drawingml/2006/main">
            <a:pPr algn="l">
              <a:def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人工复核点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E4CB48-1360-43D6-BB37-4E2B5F5D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962150"/>
            <a:ext cx="52197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030ED2-344C-47A3-98C7-44D5CC45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1717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563EB"/>
                </a:solidFill>
                <a:latin typeface="Consolas"/>
                <a:ea typeface="Consolas"/>
                <a:cs typeface="Consolas"/>
              </a:defRPr>
            </a:pPr>
            <a:r>
              <a:rPr sz="938" b="1">
                <a:solidFill>
                  <a:srgbClr val="2563EB"/>
                </a:solidFill>
                <a:latin typeface="Consolas"/>
                <a:ea typeface="Consolas"/>
                <a:cs typeface="Consolas"/>
              </a:rPr>
              <a:t>audit_rag/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5E61C8-C9AA-4FB3-90CC-2254D9EE8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717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核心能力包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CBA04E-152A-4750-AA02-A7BD78DFA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765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7C3AED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7C3AED"/>
                </a:solidFill>
                <a:latin typeface="Consolas"/>
                <a:ea typeface="Consolas"/>
                <a:cs typeface="Consolas"/>
              </a:rPr>
              <a:t>  agents.py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600DC4-F287-4B46-951A-52C772082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765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三 Agent 提示词 / mock 响应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32B0EA-914F-4AF9-ABCE-F684332CB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781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6A34A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6A34A"/>
                </a:solidFill>
                <a:latin typeface="Consolas"/>
                <a:ea typeface="Consolas"/>
                <a:cs typeface="Consolas"/>
              </a:rPr>
              <a:t>  pipeline.py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78CDF7-2D81-4EAD-9C17-799B4369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813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流程编排：材料 → RAG → Agent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CAEE74-0695-48C6-9B75-3DACF460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0861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6A34A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6A34A"/>
                </a:solidFill>
                <a:latin typeface="Consolas"/>
                <a:ea typeface="Consolas"/>
                <a:cs typeface="Consolas"/>
              </a:rPr>
              <a:t>  rag.py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D10702-36C4-463E-A651-598BBE1FB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861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ChromaDB 检索 + 关键词 fallback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F0D03C-5144-42A9-9DF6-97369916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909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  data_tools.py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157516-5368-476A-8C4F-64F252CE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909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凭证加载与风险规则扫描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940456-FA5E-47FA-99DB-D574411A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957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563EB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2563EB"/>
                </a:solidFill>
                <a:latin typeface="Consolas"/>
                <a:ea typeface="Consolas"/>
                <a:cs typeface="Consolas"/>
              </a:rPr>
              <a:t>  reporting.py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B27034-6088-4644-B5FE-3082FC06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957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Markdown 工作底稿草稿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E19602-4166-48E8-A76E-2E8CEB30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0005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563EB"/>
                </a:solidFill>
                <a:latin typeface="Consolas"/>
                <a:ea typeface="Consolas"/>
                <a:cs typeface="Consolas"/>
              </a:defRPr>
            </a:pPr>
            <a:r>
              <a:rPr sz="938" b="1">
                <a:solidFill>
                  <a:srgbClr val="2563EB"/>
                </a:solidFill>
                <a:latin typeface="Consolas"/>
                <a:ea typeface="Consolas"/>
                <a:cs typeface="Consolas"/>
              </a:rPr>
              <a:t>cli.py / streamlit_app.py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1AD2FD2-0FDF-4A3E-A793-45A68E5FA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005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命令行入口 / 课堂前端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C7D23ED-FD93-4EEA-966A-37E2FE93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05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DC2626"/>
                </a:solidFill>
                <a:latin typeface="Consolas"/>
                <a:ea typeface="Consolas"/>
                <a:cs typeface="Consolas"/>
              </a:defRPr>
            </a:pPr>
            <a:r>
              <a:rPr sz="938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benchmarks/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B471205-8FC0-4A7E-917D-31AC4212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053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合成材料与隔离评测设计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C5E105-6A2D-46F0-A113-B8F5B696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6101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6A34A"/>
                </a:solidFill>
                <a:latin typeface="Consolas"/>
                <a:ea typeface="Consolas"/>
                <a:cs typeface="Consolas"/>
              </a:defRPr>
            </a:pPr>
            <a:r>
              <a:rPr sz="938" b="1">
                <a:solidFill>
                  <a:srgbClr val="16A34A"/>
                </a:solidFill>
                <a:latin typeface="Consolas"/>
                <a:ea typeface="Consolas"/>
                <a:cs typeface="Consolas"/>
              </a:rPr>
              <a:t>outputs/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BB01DED-0722-44D8-8FD6-76325D55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101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生成报告与 Excel 底稿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28336D2-262C-4FDB-9BE8-6145E68F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149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7C3AED"/>
                </a:solidFill>
                <a:latin typeface="Consolas"/>
                <a:ea typeface="Consolas"/>
                <a:cs typeface="Consolas"/>
              </a:defRPr>
            </a:pPr>
            <a:r>
              <a:rPr sz="938" b="1">
                <a:solidFill>
                  <a:srgbClr val="7C3AED"/>
                </a:solidFill>
                <a:latin typeface="Consolas"/>
                <a:ea typeface="Consolas"/>
                <a:cs typeface="Consolas"/>
              </a:rPr>
              <a:t>docs/ &amp; assets/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D7135D9-5C21-469D-AEBD-5ADF9021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9149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README 截图、Logo、说明文档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3EC45CD-1876-471F-A6E4-AC4259CEC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772150"/>
            <a:ext cx="8610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0CE3280-5ABC-479D-BB94-D5F35D85D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905500"/>
            <a:ext cx="796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讲法：左边说明数据和证据如何流动，右边说明每一层在仓库里对应哪些文件，避免只讲概念不讲工程落点。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6CD16B3-C5C5-4E93-A0EA-CA406BEF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6B58FCF-E4A2-4A84-83CE-AD3D5DAA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4837511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9EEC93-7E55-4370-BC05-5C48D363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a0a80016154ced"/>
          <a:stretch xmlns:a="http://schemas.openxmlformats.org/drawingml/2006/main"/>
        </p:blipFill>
        <p:spPr>
          <a:xfrm xmlns:a="http://schemas.openxmlformats.org/drawingml/2006/main">
            <a:off x="876300" y="838200"/>
            <a:ext cx="1238250" cy="12382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B9B1A6-0C5F-40AA-AA61-3C4814F1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895350"/>
            <a:ext cx="8096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总结：能跑是第一步，可信才是财务 AI 的生产门槛。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15308D-117B-41F8-80E1-62E91FE69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7907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这个项目的价值不是证明 Agent 可以全自动审计，而是证明它能在确定流程里承担可复核的高频工作。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D4BDAF-2052-423C-8323-BEFE877D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67050"/>
            <a:ext cx="2095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6C637A-47AF-4385-BFF6-08D850F6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670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3B02EB-7E75-48EA-9ED3-BABF09324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194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评测器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441C1E-1341-4F04-8B2E-D8FE3068C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24250"/>
            <a:ext cx="1752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合成数据 + Precision / Recall / F1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BA7BF0-3627-4BE3-966A-0EDF1CEB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67050"/>
            <a:ext cx="2095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7D493A-9544-4327-9185-24F61DD0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670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7C0670-F7E3-4E14-8913-AE3E7A5D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2194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对比实验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8AECDF-DC53-4F6F-9978-240B3DAB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524250"/>
            <a:ext cx="1752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和真实审计师底稿做差异分析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61E2D5-2E35-47BD-8030-7ABC856D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67050"/>
            <a:ext cx="2095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13B0AB-9670-4F41-A0AC-DDA551FC8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670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B654F4-7987-49DD-8D2F-3AFA1948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194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底稿扩展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B9CDC6-8629-4E06-99FC-506D4385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24250"/>
            <a:ext cx="1752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应收、存货、收入截止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EE72B0-148F-437C-AED7-1EE63A85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67050"/>
            <a:ext cx="2095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2861ED-2417-4F35-86E5-9EEF260B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670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2EF13F-E64E-43FB-B4B9-55A6B2C9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194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私有化治理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DB80B5-5EE0-4BF9-90DE-82965061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524250"/>
            <a:ext cx="1752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模型、权限、日志、审计轨迹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AC3513-7A3E-4D1F-A709-3865D551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3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F33"/>
          </a:solidFill>
          <a:ln xmlns:a="http://schemas.openxmlformats.org/drawingml/2006/main" w="9525">
            <a:solidFill>
              <a:srgbClr val="1D4E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92F70F-489C-4C89-AB84-0F08B536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76850"/>
            <a:ext cx="847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Q&amp;A 准备：为什么不全自动？怎么控幻觉？数据是否外发？谁承担最终责任？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DC2A2B-E687-4BC5-9057-91940924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560D38-B3F4-40A6-9A2D-F4ECC357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732631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2026-06-05T04:18:48.8120000Z</dcterms:created>
  <dcterms:modified xsi:type="dcterms:W3CDTF">2026-06-05T04:18:48.8120000Z</dcterms:modified>
</coreProperties>
</file>