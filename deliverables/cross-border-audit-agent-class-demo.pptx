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7e8db24ad64612" /><Relationship Type="http://schemas.openxmlformats.org/officeDocument/2006/relationships/extended-properties" Target="/docProps/app.xml" Id="Ree054a133822469e" /><Relationship Type="http://schemas.openxmlformats.org/officeDocument/2006/relationships/officeDocument" Target="/ppt/presentation.xml" Id="R2dbeccdb002c41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c57ce4ab854bd5"/>
  </p:sldMasterIdLst>
  <p:notesMasterIdLst>
    <p:notesMasterId xmlns:r="http://schemas.openxmlformats.org/officeDocument/2006/relationships" r:id="R41c8684b0a6f4b8c"/>
  </p:notesMasterIdLst>
  <p:sldIdLst>
    <p:sldId xmlns:r="http://schemas.openxmlformats.org/officeDocument/2006/relationships" id="256" r:id="R615b372eb5fd4906"/>
    <p:sldId xmlns:r="http://schemas.openxmlformats.org/officeDocument/2006/relationships" id="257" r:id="R5fe152e33cd34029"/>
    <p:sldId xmlns:r="http://schemas.openxmlformats.org/officeDocument/2006/relationships" id="258" r:id="R5b1e6daf16514df1"/>
    <p:sldId xmlns:r="http://schemas.openxmlformats.org/officeDocument/2006/relationships" id="259" r:id="R2613e210919b4d5d"/>
    <p:sldId xmlns:r="http://schemas.openxmlformats.org/officeDocument/2006/relationships" id="260" r:id="R4356f7d9cef74fe4"/>
    <p:sldId xmlns:r="http://schemas.openxmlformats.org/officeDocument/2006/relationships" id="261" r:id="R16269ee83f564bcb"/>
    <p:sldId xmlns:r="http://schemas.openxmlformats.org/officeDocument/2006/relationships" id="262" r:id="R36f3f132735d48e2"/>
    <p:sldId xmlns:r="http://schemas.openxmlformats.org/officeDocument/2006/relationships" id="263" r:id="Rf2bad9811f874dd9"/>
    <p:sldId xmlns:r="http://schemas.openxmlformats.org/officeDocument/2006/relationships" id="264" r:id="R2f1773eca20e42ff"/>
    <p:sldId xmlns:r="http://schemas.openxmlformats.org/officeDocument/2006/relationships" id="265" r:id="Rb9d30da89be94ec4"/>
    <p:sldId xmlns:r="http://schemas.openxmlformats.org/officeDocument/2006/relationships" id="266" r:id="R7491c0253559478b"/>
    <p:sldId xmlns:r="http://schemas.openxmlformats.org/officeDocument/2006/relationships" id="267" r:id="R39f37b2265354ac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1252db963d4d3a" /><Relationship Type="http://schemas.openxmlformats.org/officeDocument/2006/relationships/slideMaster" Target="/ppt/slideMasters/slideMaster1.xml" Id="Rbcc57ce4ab854bd5" /><Relationship Type="http://schemas.openxmlformats.org/officeDocument/2006/relationships/notesMaster" Target="/ppt/notesMasters/notesMaster1.xml" Id="R41c8684b0a6f4b8c" /><Relationship Type="http://schemas.openxmlformats.org/officeDocument/2006/relationships/presProps" Target="/ppt/presProps.xml" Id="R811d38d4f88442b7" /><Relationship Type="http://schemas.openxmlformats.org/officeDocument/2006/relationships/viewProps" Target="/ppt/viewProps.xml" Id="R03fa8723b0a847bb" /><Relationship Type="http://schemas.openxmlformats.org/officeDocument/2006/relationships/tableStyles" Target="/ppt/tableStyles.xml" Id="R0c5dd0c87a674a39" /><Relationship Type="http://schemas.openxmlformats.org/officeDocument/2006/relationships/slide" Target="/ppt/slides/slide1.xml" Id="R615b372eb5fd4906" /><Relationship Type="http://schemas.openxmlformats.org/officeDocument/2006/relationships/slide" Target="/ppt/slides/slide2.xml" Id="R5fe152e33cd34029" /><Relationship Type="http://schemas.openxmlformats.org/officeDocument/2006/relationships/slide" Target="/ppt/slides/slide3.xml" Id="R5b1e6daf16514df1" /><Relationship Type="http://schemas.openxmlformats.org/officeDocument/2006/relationships/slide" Target="/ppt/slides/slide4.xml" Id="R2613e210919b4d5d" /><Relationship Type="http://schemas.openxmlformats.org/officeDocument/2006/relationships/slide" Target="/ppt/slides/slide5.xml" Id="R4356f7d9cef74fe4" /><Relationship Type="http://schemas.openxmlformats.org/officeDocument/2006/relationships/slide" Target="/ppt/slides/slide6.xml" Id="R16269ee83f564bcb" /><Relationship Type="http://schemas.openxmlformats.org/officeDocument/2006/relationships/slide" Target="/ppt/slides/slide7.xml" Id="R36f3f132735d48e2" /><Relationship Type="http://schemas.openxmlformats.org/officeDocument/2006/relationships/slide" Target="/ppt/slides/slide8.xml" Id="Rf2bad9811f874dd9" /><Relationship Type="http://schemas.openxmlformats.org/officeDocument/2006/relationships/slide" Target="/ppt/slides/slide9.xml" Id="R2f1773eca20e42ff" /><Relationship Type="http://schemas.openxmlformats.org/officeDocument/2006/relationships/slide" Target="/ppt/slides/slide10.xml" Id="Rb9d30da89be94ec4" /><Relationship Type="http://schemas.openxmlformats.org/officeDocument/2006/relationships/slide" Target="/ppt/slides/slide11.xml" Id="R7491c0253559478b" /><Relationship Type="http://schemas.openxmlformats.org/officeDocument/2006/relationships/slide" Target="/ppt/slides/slide12.xml" Id="R39f37b2265354a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5b7d42bee9d47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9b03a0977734916" /><Relationship Type="http://schemas.openxmlformats.org/officeDocument/2006/relationships/notesMaster" Target="/ppt/notesMasters/notesMaster1.xml" Id="R2adf9f14f3a74f8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4bca00575d4c25" /><Relationship Type="http://schemas.openxmlformats.org/officeDocument/2006/relationships/notesMaster" Target="/ppt/notesMasters/notesMaster1.xml" Id="R2198808561fe488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443ae5f53f14f45" /><Relationship Type="http://schemas.openxmlformats.org/officeDocument/2006/relationships/notesMaster" Target="/ppt/notesMasters/notesMaster1.xml" Id="R1372dccb44c849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822ced920744b2" /><Relationship Type="http://schemas.openxmlformats.org/officeDocument/2006/relationships/notesMaster" Target="/ppt/notesMasters/notesMaster1.xml" Id="Rf42eb54163e54f7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1c6b92c2a394357" /><Relationship Type="http://schemas.openxmlformats.org/officeDocument/2006/relationships/notesMaster" Target="/ppt/notesMasters/notesMaster1.xml" Id="Rc2e63aa3800144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53604fb522e40c0" /><Relationship Type="http://schemas.openxmlformats.org/officeDocument/2006/relationships/notesMaster" Target="/ppt/notesMasters/notesMaster1.xml" Id="Rc3956c9ebb0a494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4b6c4b8637448c" /><Relationship Type="http://schemas.openxmlformats.org/officeDocument/2006/relationships/notesMaster" Target="/ppt/notesMasters/notesMaster1.xml" Id="R097a8b19383c495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d2b70414304227" /><Relationship Type="http://schemas.openxmlformats.org/officeDocument/2006/relationships/notesMaster" Target="/ppt/notesMasters/notesMaster1.xml" Id="R5607d61f89314ef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af87fda14d4dfa" /><Relationship Type="http://schemas.openxmlformats.org/officeDocument/2006/relationships/notesMaster" Target="/ppt/notesMasters/notesMaster1.xml" Id="R24d710a76c7849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d42b458d504fe4" /><Relationship Type="http://schemas.openxmlformats.org/officeDocument/2006/relationships/notesMaster" Target="/ppt/notesMasters/notesMaster1.xml" Id="R1662f91d7a2b42d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a1332f828ee43d1" /><Relationship Type="http://schemas.openxmlformats.org/officeDocument/2006/relationships/notesMaster" Target="/ppt/notesMasters/notesMaster1.xml" Id="R98296eb0d8bf4fe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9dd7ebff50849cb" /><Relationship Type="http://schemas.openxmlformats.org/officeDocument/2006/relationships/notesMaster" Target="/ppt/notesMasters/notesMaster1.xml" Id="R7fdd9c27e0c74e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59df0907b4a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0913b652084f0e" /><Relationship Type="http://schemas.openxmlformats.org/officeDocument/2006/relationships/slideLayout" Target="/ppt/slideLayouts/slideLayout1.xml" Id="R69e04ec5fc2b46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e04ec5fc2b46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49033d10834213" /><Relationship Type="http://schemas.openxmlformats.org/officeDocument/2006/relationships/image" Target="/ppt/media/image.png" Id="Rc2a767e289954127" /><Relationship Type="http://schemas.openxmlformats.org/officeDocument/2006/relationships/notesSlide" Target="/ppt/notesSlides/notesSlide1.xml" Id="R75cba887d94741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668847d50240b5" /><Relationship Type="http://schemas.openxmlformats.org/officeDocument/2006/relationships/image" Target="/ppt/media/image2.png" Id="R86e8dd5c6599464b" /><Relationship Type="http://schemas.openxmlformats.org/officeDocument/2006/relationships/notesSlide" Target="/ppt/notesSlides/notesSlide2.xml" Id="Rf8571e1cf8214e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b0160765404116" /><Relationship Type="http://schemas.openxmlformats.org/officeDocument/2006/relationships/notesSlide" Target="/ppt/notesSlides/notesSlide3.xml" Id="Rcf76e40c806447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d87af48da4ba0" /><Relationship Type="http://schemas.openxmlformats.org/officeDocument/2006/relationships/notesSlide" Target="/ppt/notesSlides/notesSlide4.xml" Id="R6448b64abf084c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d67605f5224b58" /><Relationship Type="http://schemas.openxmlformats.org/officeDocument/2006/relationships/notesSlide" Target="/ppt/notesSlides/notesSlide5.xml" Id="Rbe7a2946099043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0e284d02f4767" /><Relationship Type="http://schemas.openxmlformats.org/officeDocument/2006/relationships/notesSlide" Target="/ppt/notesSlides/notesSlide6.xml" Id="Rfe2b293863944e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3c9fa1cdb34bf2" /><Relationship Type="http://schemas.openxmlformats.org/officeDocument/2006/relationships/notesSlide" Target="/ppt/notesSlides/notesSlide7.xml" Id="R3cfe2907536b44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866b4d27e24783" /><Relationship Type="http://schemas.openxmlformats.org/officeDocument/2006/relationships/notesSlide" Target="/ppt/notesSlides/notesSlide8.xml" Id="R181bad188d194c0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ae6a8e9dca4e21" /><Relationship Type="http://schemas.openxmlformats.org/officeDocument/2006/relationships/image" Target="/ppt/media/image3.png" Id="Rc9132267c3a441a8" /><Relationship Type="http://schemas.openxmlformats.org/officeDocument/2006/relationships/notesSlide" Target="/ppt/notesSlides/notesSlide9.xml" Id="R4154c92fdca34d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2a6f43bf414423" /><Relationship Type="http://schemas.openxmlformats.org/officeDocument/2006/relationships/notesSlide" Target="/ppt/notesSlides/notesSlide10.xml" Id="R676cc9dc631347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ed9b499f54e4b" /><Relationship Type="http://schemas.openxmlformats.org/officeDocument/2006/relationships/notesSlide" Target="/ppt/notesSlides/notesSlide11.xml" Id="R7c50ae9fc574453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32c30c2a0b421c" /><Relationship Type="http://schemas.openxmlformats.org/officeDocument/2006/relationships/image" Target="/ppt/media/image4.png" Id="R7b1f27dacd2149d0" /><Relationship Type="http://schemas.openxmlformats.org/officeDocument/2006/relationships/notesSlide" Target="/ppt/notesSlides/notesSlide12.xml" Id="Rb01734481b4b490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037163A-BDEE-48B6-92EE-A52BAA8F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767e289954127"/>
          <a:stretch xmlns:a="http://schemas.openxmlformats.org/drawingml/2006/main"/>
        </p:blipFill>
        <p:spPr>
          <a:xfrm xmlns:a="http://schemas.openxmlformats.org/drawingml/2006/main">
            <a:off x="590550" y="526256"/>
            <a:ext cx="5334000" cy="1500188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3E5BF-33B0-4665-9898-D788D7479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8191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可信财务 AI：把 Agent 关进确定性流程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8CA14-7C8A-41B7-ADFE-D79656BA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7429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BFDBFE"/>
                </a:solidFill>
                <a:latin typeface="Microsoft YaHei"/>
                <a:ea typeface="Microsoft YaHei"/>
                <a:cs typeface="Microsoft YaHei"/>
              </a:rPr>
              <a:t>数字金融课堂展示 · 两人讲解 · 现场打开局域网前端演示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06E877-B225-4799-8129-27097D94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876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F33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A90A7B-CE2D-4982-AA90-765C44A2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93C5FD"/>
                </a:solidFill>
                <a:latin typeface="Microsoft YaHei"/>
                <a:ea typeface="Microsoft YaHei"/>
                <a:cs typeface="Microsoft YaHei"/>
              </a:rPr>
              <a:t>演示地址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19A9E-9DD1-43F0-A5AA-4D648035D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29100"/>
            <a:ext cx="4191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http://10.5.52.230:8501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18141E-D7A5-4195-AF48-9D939CD3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B69D62-B1D1-4FBA-A4AA-96EDDE82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8145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38BDF8"/>
                </a:solidFill>
                <a:latin typeface="Microsoft YaHei"/>
                <a:ea typeface="Microsoft YaHei"/>
                <a:cs typeface="Microsoft YaHei"/>
              </a:rPr>
              <a:t>Speaker A：问题与系统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D87C61-D937-4913-99B1-AB118E2D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525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93B66-EDAA-4920-9181-3847EB6B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98145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A78BFA"/>
                </a:solidFill>
                <a:latin typeface="Microsoft YaHei"/>
                <a:ea typeface="Microsoft YaHei"/>
                <a:cs typeface="Microsoft YaHei"/>
              </a:rPr>
              <a:t>Speaker B：架构与范式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2D6AB-EEE0-42CD-A637-964E4228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19700"/>
            <a:ext cx="9334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开场先演示收敛后的底稿生成，再回到一个更真实的问题：为什么最初那个多 Agent 虽然能跑，但还不能被审计人员信任。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4809B7-55C2-4272-85EF-820D7B31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99057-6396-422C-A895-7E1C5E4E8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32551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55B9CB-6143-4134-9096-B4992D510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34391-64E7-43DD-ABAC-21F19772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0D34AA-C7E9-4341-9BD1-0B582FF48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先演示收敛后的底稿 Workflow，再讲为什么我不再相信自由 Agent。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138BA2-8D43-4BE4-B061-1345ECB4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7D90A-03B6-427F-886A-5532EE49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e8dd5c6599464b"/>
          <a:stretch xmlns:a="http://schemas.openxmlformats.org/drawingml/2006/main"/>
        </p:blipFill>
        <p:spPr>
          <a:xfrm xmlns:a="http://schemas.openxmlformats.org/drawingml/2006/main">
            <a:off x="1860550" y="1524000"/>
            <a:ext cx="4622800" cy="43338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92CD2B-F28D-4942-AE05-E06BF90F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9547CB-CE47-470E-8AF6-9691A014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4762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FE51E-32A9-4CB1-B106-366A0437F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335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课堂动作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6A2688-4046-4C21-9E72-08341105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38350"/>
            <a:ext cx="28003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1. 打开封面 IP 地址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2. 点击“使用内置示例生成底稿”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3. 下载 Excel 工作底稿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4. 回到 PPT 解释为什么这样设计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7842D-EA0D-4D9D-A364-4E3F146AD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7185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68C150-58ED-45BA-AF10-BB1117803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7185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165459-8999-4B3E-9A2F-2A4BB25A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这版演示是什么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4E6FEC-2892-4CF5-9A4C-8A2F3CF19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29050"/>
            <a:ext cx="2800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内置合成材料 + mock 模式 + Excel 底稿。重点展示可运行路径，不展示真实客户敏感数据。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8FBF4B-0C57-4924-96A1-06ECD1D1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81550"/>
            <a:ext cx="3143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4C099F-8F8A-4E7B-B31E-F691D6C5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81550"/>
            <a:ext cx="47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8FE4C78-FE8F-4141-9085-26ED226F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33950"/>
            <a:ext cx="2800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它不是什么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1530A7-48BF-437E-A2BF-8D822161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800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不是让模型自由查账、自由下结论；而是把材料、规则、证据和复核点串起来。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655BEF-7016-4D2D-A9F8-99008AAF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C0083A-9DEB-47B1-BE3C-54BECF96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199839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2A8162-79E4-4905-9C34-F7C66CBD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AB1011-7E77-4071-B333-C453A0A0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PERSONAL STARTING POINT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22278-D686-41F2-B84E-676EFBA6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最初的跨境资金多 Agent 能跑，但问题不是运行，而是不可信。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A3C5A5-A7C4-440F-A58A-1AF75EAB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E5D396-3BB2-4728-AC3F-D8C7AC7B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099C5-28FD-43A5-BB6D-9D31049FF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2857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F6B90-7898-46A5-8BCD-C5A416ECE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FD7ECA-B18B-4012-AB29-E35280A8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9812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第一版：多 Agent + 前端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0158B-A604-4E70-837D-ABA5B946A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590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让不同 Agent 分别做数据提取、合规分析和审计合伙人复核，前端可以上传材料并输出风险判断。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D8676-BB05-43E5-9D5F-349C31CDF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717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3016E5-2775-45FB-B24D-63ED2286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66900"/>
            <a:ext cx="2857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E6477-DA0A-4339-897E-78E22A8A1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812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183592-95F2-40CC-AECE-A09DB148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812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发现问题：结论像真的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97D5E3-1FC2-4C53-9634-AFA75B36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24100"/>
            <a:ext cx="2590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模型说一笔交易有风险，但很难知道它基于哪条规则、哪段材料、哪个字段。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5E7C01-CFAF-4326-8D1F-617E8A12A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71750"/>
            <a:ext cx="400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F687F-B161-46DA-ACFE-5F584436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66900"/>
            <a:ext cx="2857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987495-BF8F-47DB-910C-1623DA6D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812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E7A39C-BC9C-4691-9DC3-498E7E5F9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981200"/>
            <a:ext cx="2266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需求收敛：先刷底稿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F2EE8-466B-4B24-99B5-DE66690C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324100"/>
            <a:ext cx="25908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把目标从“自由审计 Agent”收敛到自动填写底稿、报销单审核这类更稳定的流程节点。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B2E571-4162-465B-BF60-CEAAF9F3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1965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6B521-15EC-41ED-A13E-98AF9D0E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4825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能跑不等于能进高责任场景；财务 AI 的门槛不是“会回答”，而是“能被复核”。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9AF13-8233-4C26-BFB1-4EBBCC32B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8E5D92-4AA1-474B-B8A4-5F2A7D3D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91029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5519A0-46E6-47CD-9600-836FA9DA9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3E44D2-55B0-4F69-8402-8FD1719D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HARD QUESTION 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2AFC72-267B-4687-8F19-B131F1A9B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一个风险结论如果不能回答三个问题，就不能进入审计流程。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7FB66-B183-4533-8D18-A6597AD5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3CD0F2-6743-4B25-9BF1-47F1AC60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026DC3-BC3B-4E66-978D-44A24DEE0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18E125-26D5-43E3-8366-6BA37A5C0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3C15CA-D6A1-4495-8132-113886EF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1930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这个结论从哪里来？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2F736F-0A06-4747-9C75-AC2A50E12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需要看到原始字段、命中的规则、引用的材料片段，而不是只看一段自然语言判断。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F0F38-60F5-4A80-BD89-F6EE82B0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885C3-67B0-4487-97B5-22F32C44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12092-9E59-4BA1-8C6C-FB34C1EDB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1930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中间哪一步错了？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DFD3B7-7119-4534-B0EF-90F37F0F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32410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错误可能来自数据提取、规则理解、RAG 检索、模型推理或最终汇总，必须能定位。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D2CE68-F9B6-4630-8449-8993C44F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6690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98E7DC-364A-4AC8-941A-959C9C2E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6690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C4D15B-2AEE-4AA0-B1AA-0EF76AED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1930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审计人员怎么复核？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2845C5-D51E-4A5D-9BC7-CD29A49C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输出必须告诉复核人哪些证据充分、哪些证据缺口、哪些地方需要追加程序。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85C499-AFE1-4E51-8D0E-0679C147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8096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EB30B8-6D41-4D20-AC6E-85B78C43B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762500"/>
            <a:ext cx="4762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FED27A-18C2-41F6-B3BB-FBCE80000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14900"/>
            <a:ext cx="7753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最初多 Agent 的结构性问题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2E57A1-D65B-4EB9-A943-83B4B38C6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19700"/>
            <a:ext cx="77533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每个 Agent 都在生成自然语言，输出链路很长；一旦结论错了，很难判断是提取错、检索错、理解错，还是汇总时把语气写得太确定。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86CEA6-9651-4A8A-9E2C-37B59366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F845EB-8E3C-4275-9A82-1B64F408C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5504223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049C64-C935-43F3-97A6-23C1D638F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C06F1-E884-4BCD-A3F3-728FD57F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WHITE BOX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DC47CB-2536-4470-B594-E480F2DD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财务 AI 的第一原则：黑盒必须变成白盒。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07B691-F6C3-48DE-872A-B643EA10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5918F-E06D-4368-902F-33B6C5790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AEF6DA-8E22-4A5B-836C-7457F92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DB6BCB-4C76-45D9-BE63-B185CD35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47F2A-56F8-49FB-BC19-64ADBF810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用了什么数据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EAB4F2-22BD-4E4A-9A56-BDD4A7D8C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字段、表名、期间、金额口径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47E69B-E75C-48FA-9B3A-E825140EE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A91AC3-FC5C-49B6-A9A5-97DFE124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17534B-7EFA-4437-83D0-A1CB1D08A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命中哪条规则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51EA71-523C-4C8A-A98E-0B85198C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准则、制度、阈值、例外条件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F01235-31F9-4AE5-B5EC-DDF425316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61A763-76E8-4C05-83B7-FE3D08EB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F7223E-AFCE-424F-8D4C-B3F7C66F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引用哪段证据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C229B0-B2BD-4CE1-B8EA-B4A3EC435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原始材料片段和来源路径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F96AD7-678C-44A0-A6D2-067114AA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6BFE83-5147-4290-854D-042D340E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D6C287-1CA5-44B4-9410-443B78BE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置信度与缺口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F52F02-76C9-404B-B480-9D2D60EA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低置信度原因和缺失材料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D7BEAD-148F-4105-8AA9-F5559B86F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097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AB246-50E0-428E-AD55-D7FB4D551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1952625"/>
            <a:ext cx="1466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B59425-98FA-45BA-A6C0-324321A4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52675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哪里人工复核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1D0094-CE4B-4A4D-A0A6-183E3128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466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复核动作、责任人、留痕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3DFD54-7F17-4B67-B1BC-76604249B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67150"/>
            <a:ext cx="8953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E40888-F29E-458D-B2E7-2F0A3B72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95750"/>
            <a:ext cx="8096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审计和报销审核本质上都是高责任场景。AI 不能只给结论，必须把判断过程拆开，让人能追溯、能质疑、能复核。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B5364C-5DF1-44D7-A043-7121DECC2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43500"/>
            <a:ext cx="7239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C95344-3C19-47C1-BB3C-AB14FF46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143500"/>
            <a:ext cx="4762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1405B1-822F-4D6C-972B-3816568A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295900"/>
            <a:ext cx="6896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一句话讲法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159F55-5ADF-4D56-974B-3DA748FD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600700"/>
            <a:ext cx="6896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财务 AI 不是把专业判断交给模型，而是让模型先做材料整理、证据引用和初步判断，再把低确定性的部分交还给人。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192553-5ED3-48C3-B6D1-1BD701FD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7A95FA-E779-42E2-A9AE-10D17BB5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2062331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0353004-B182-462B-A752-A84A0B24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03112C-69E7-4F57-866C-BDCC657A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WORKFLOW FIRST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2A8689-B247-4BAF-8B82-FBF01C2A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在财务场景里，Workflow 通常优于完全自主 Agent。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2ECB23-6B8F-450E-8533-6D3D17A1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89C802-6C2A-46DC-97A8-B4A6688D4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44C0E-2590-441C-8D4F-41220370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768F7-07EB-48D4-AB24-A8D8B755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FEF0FC-92B6-4815-B70A-6617A9AD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材料识别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CA613C-52FA-4688-8C27-001263AA3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票据/流水/底稿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1A6897-F1F8-444D-BED4-52DC5345D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20EDD6-E93A-4364-96D4-93251A690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56D6C-391B-4D78-B576-CA3C3C29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9EBCEF-F126-4F7B-B810-D69B410DA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制度检索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0C98BF-F70F-4D4F-B126-9A6631E0B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准则/报销政策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D36AE9-EAEC-4DF1-AE08-3BF7E295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16A6A1-26CE-474D-A26F-25EAC22B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7CE981-2FD5-4862-A18F-41383439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359AB6-E1A1-4A0D-9E74-A9F8EA65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字段比对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A22310-C1D7-4923-9846-339A5D0A4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金额/日期/主体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65C7AD-1236-4724-BA11-D7505CCB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63AE2A-A883-4FFB-99E9-2012D464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CB2D32-789A-420A-9085-12F92747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FEC763-F25C-458B-8C62-990A8B1D6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异常判断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7BA2DA-01C1-4FC6-A0D1-C3BEF550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规则 + 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41DAF7-BC97-4EB1-A74D-E464754C0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642E2F-CF3D-4C0A-BA1F-B3413E189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631DF5-A67F-4453-8B7C-86BB7A86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F887B8-CD7D-468C-8D2D-5E6D8B61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证据引用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707701-2B9A-42C8-9315-976F65B8F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来源留痕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089FD0F-D4AA-4047-A04E-717EDC899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346D7A-616B-463A-B73A-ED243A518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0268BA-3D36-4E64-8BA2-C9AAAFCAB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4B51FD-CD28-49AA-9252-A90C19E1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人工复核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B5345B-A87F-4737-A24F-6651B4E3C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低置信度兜底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DB76FD-B87A-46A5-84EF-15D305AA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133600"/>
            <a:ext cx="285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FAE64B-8598-4A94-B2A1-601CB333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733550"/>
            <a:ext cx="12763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C9EC39-32FF-4867-A243-0320A428D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84785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EB5940-322C-4969-B3D5-3B6D6BBFE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84785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结果归档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6DE383-5AD5-43C2-9E1B-B84DB49D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190750"/>
            <a:ext cx="10096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Excel/日志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1614A1-9E0D-4B6F-AB51-1649AA32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40957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3052632-9D92-4616-83CF-1E61E2C0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57600"/>
            <a:ext cx="4762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01EABDB-440A-4B1F-A898-B47AF2F19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0000"/>
            <a:ext cx="3752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Agent 的位置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10C2472-5CDE-4581-9AC9-2B5510CC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114800"/>
            <a:ext cx="37528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Agent 只应该在某些节点里做智能任务，比如识别异常、检索制度、解释证据，而不是自己控制整个财务流程。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2A16C12-9251-493F-AF36-60096F4F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385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55C5775-AC69-4B7C-8979-03D3C391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62400"/>
            <a:ext cx="4267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财务 AI 不是让模型自由发挥，而是把模型的不确定性，关进一个确定性的流程里。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335968-288F-4CE3-AEFC-4F164DB2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B5F4C8B-BACE-4629-ADDE-DC96BA28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8990758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875D3B-3E13-4F23-ABDC-F47A87B8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79718D-AE3F-4D7F-809B-09189C46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WHY NOT FULL AUTO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EC41F0-0BDA-4CB8-A34B-A09707E1F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全流程自动化很难，因为三件事绕不开。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3F9DE-E485-4AD6-ADE3-56472C02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C67E5-928C-4F6A-83FA-9CAA5B38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C1E6D-7301-4A7D-ABBC-5000F1B6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55FFD5-0DD5-4313-B283-11B042ED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71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E8E711-000C-4EA7-8DE5-48746E75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240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幻觉不可接受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140D9-22D4-419D-A50A-B79E4624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2885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财务和审计不是写作场景。模型一旦把缺失证据说成确定事实，后果会直接进入工作底稿和复核链条。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E6C308-083D-43E7-8F2F-E0BAFF9E4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716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BC3445-F319-4B22-A453-6E1A7F8A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71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B2064A-362A-4E9C-88D5-583E19B0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240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数据高度保密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0AFC4A-04E1-4756-B9D4-EE71B273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22885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真实客户材料不适合随意走远端 API 或公开 Agent 工具。更现实的方向是脱敏、权限隔离和私有化部署。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EC3D5C-A1AF-4678-A720-9FE70D01B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716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F44630-6F1C-477D-A64A-743D4AFD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71650"/>
            <a:ext cx="476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18219B-88A4-44A5-9A39-31FF9579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240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责任归属必须是人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E2DEFE-FFB4-4528-9C2A-A428D692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228850"/>
            <a:ext cx="26098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像实习生底稿一样，最后需要正式人员复核把关。Agent 只能辅助，不能替代责任主体。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1C30FC-0230-4742-AD86-E60812F4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724400"/>
            <a:ext cx="8382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883D07-A2F5-4E87-86D3-F39DD56B6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991100"/>
            <a:ext cx="7524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所以我不把这个项目包装成“全自动审计”，而是讲成可信辅助：降低低风险重复劳动，把关键判断留给人。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76D379-4E2A-40DC-876C-E3E2CAAB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A812BC-5617-42B3-8F61-FA9816E6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22199774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870261-035C-45AB-87F6-F90868578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E43451-C0C1-4D56-B781-446221FB6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WHY IT STILL MATTERS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17CF30-3653-4841-8341-BDCDCB0C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不能全自动，不代表没有商业价值：替代实习生 dirtywork 可能更早发生。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C310A4-24C9-4770-9ED4-0CDDCE48B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E6E539-CB80-4C97-8F92-7E348D19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3E118A-4012-4F2E-8BC1-1B4A68D1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19250"/>
            <a:ext cx="8953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EBDEC8-17FD-48BF-8C95-9A1BFFCC8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866900"/>
            <a:ext cx="8286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人做的时间 -（AI 做的时间 + 人核对并修改的时间）&gt; 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7E8F5B-D13C-4C88-B58C-E42874F7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2952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BFDC1-6463-4986-932A-B0A5EE6D2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432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F09B64-B4B2-47BD-B10B-11EBE68A8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最先被改造的任务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A186AC-7511-43F2-92B8-EA1B7FE3E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00450"/>
            <a:ext cx="2609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货币资金底稿、简单抽凭、复制粘贴、筛选和查找函数等高频模板化工作。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05CDB7-0573-4899-964C-2BC6CB14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2952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D8BE64-2C12-41E4-A112-160408A2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2E1531-9F8E-4CA9-8FD9-DD32E3BD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956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Harness 约束降低风险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0088E-5507-4441-8128-29210BD1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00450"/>
            <a:ext cx="2609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用模板、字段 schema、规则扫描、cell_map 和 mock/私有部署，把模型限制在可检查的动作里。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BF0344-3AE1-42AE-B7F8-BB195DD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2952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3A84F5-835C-45AC-92E5-57A0FBFF6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476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4121EE-2B89-4237-B935-2908FD919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95650"/>
            <a:ext cx="2609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复核人兜底责任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C96C3F-F28D-4494-A9FA-6C64A08C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600450"/>
            <a:ext cx="26098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产出像实习生交底稿一样进入 Maker-Checker 流程；AI 负责提效，人负责最终判断。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8F2979-2459-4366-8E67-8636DDA4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619750"/>
            <a:ext cx="895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课堂里可以把这个观点讲得更尖锐：全流程自动化很难，但低风险重复劳动会先被重构。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D1B14B-D5FE-4B2A-8A19-DA92C77FE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BAE85-3666-47C1-9F01-AE84F772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54071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7A72A0F-CB57-41F3-B108-4DA7C063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87B23E-B61B-470D-9589-7B776849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CURRENT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AE859-C89B-4169-A135-165FE4C7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这版项目就是把最初的大问题收敛成一个可复核的底稿 Workflow。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CA441B-303E-483C-A163-3EBB7D77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A /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B5B02-3722-4B64-B511-DEE02C38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E0B1E9-E19C-45C7-8788-5AE18A2AE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D75C76-C71C-40E8-9866-1B3419BF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9E6B9D-7D6B-4E72-A91B-B12D73801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材料包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CAAF3-0862-4EAB-B277-CE8E51AC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合成案例/上传文件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E199DD-9218-4580-953A-39236703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C16517-C902-40B9-92F4-FC0D9A9E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5C14C3-621F-415C-AB12-5642773B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CA072C-2525-4B19-9F59-8C7A0F82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规则扫描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BB08D7-8D48-4B58-8FC0-A2A806B7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类跨境风险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552A80-F069-4655-A57B-4DC04F06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38551B-355E-43B3-8E83-30A12D33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E6549B-AD76-41D8-BC78-1D2A592B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911C8B-C9C9-4AEB-926B-8F3A6653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RAG 证据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522814-761A-4458-91AA-22935D57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准则片段/fallback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5C0D52-349A-4647-9174-960EAB81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0FA433-3EC3-4125-B0A1-6F6C6E8B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D29456-4DC6-44A0-98B8-54364F95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11811F-C7CC-4C28-84BB-11995113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三 Agent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2A47BA-232A-41C2-9734-F89850DFF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提取/合规/复核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DF47AD-2D44-49B8-8C3F-DB66FFD99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038A16-C4B8-4334-821F-C820E1EE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162F0F-D62F-4828-A27A-CC642A18A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F86EB6-0926-4C80-95F9-3A3AF6A41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底稿输出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E56CDE-346C-4388-AF4B-0F3244F07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Excel/Markdown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2AFBCD-3A7B-4E57-B122-FA6A1639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133600"/>
            <a:ext cx="3048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5C349AE-CB91-4C85-91DB-019E2114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752600"/>
            <a:ext cx="1428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298879-27CA-4845-871B-82E40C4C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1866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3B77A3-6935-45BE-9026-7328C812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866900"/>
            <a:ext cx="8382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人工复核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0ADF5-33A5-429A-93E9-3A662411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209800"/>
            <a:ext cx="11620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证据缺口留痕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32267c3a441a8"/>
          <a:stretch xmlns:a="http://schemas.openxmlformats.org/drawingml/2006/main"/>
        </p:blipFill>
        <p:spPr>
          <a:xfrm xmlns:a="http://schemas.openxmlformats.org/drawingml/2006/main">
            <a:off x="1857375" y="3676650"/>
            <a:ext cx="2133600" cy="200025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2213D2-3199-45A7-8B43-75B9A7D13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695700"/>
            <a:ext cx="16954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D16178-EB4B-4322-B4BE-B36BC9BB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838575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52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B0434E-2067-40C8-BBC0-E6C35D0AA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2386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tests passed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3FBB077-A4FE-46D7-86DA-8D1F434FA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53390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pytest 验证基础链路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79C4B5-A600-4EF2-A323-F41AECAE9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95700"/>
            <a:ext cx="16954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140ED6-9930-494B-A1EE-9F9E6F693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838575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Mock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954DF2E-548A-4236-AD0D-4A52E36B0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386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默认演示模式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0A1A86A-AC32-4BAB-87C4-2E9CCADD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53390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课堂不调用远端 API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A51FFD2-B35C-4E01-A599-782A4C20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95700"/>
            <a:ext cx="16954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BC4BDF8-D230-4EE5-959B-166FA3678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838575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Cell Map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B3C1E5D-2461-4E24-8382-5E370873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238625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公式区保护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5FB6C74-37AA-48BC-BF02-647E76F9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33900"/>
            <a:ext cx="1352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只写入模板可填区域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E9826AF-2D57-4D74-B41E-E4164304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7C74FB8-8840-4150-BDD7-EE355C19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6490009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27B687-26BC-4E0D-BB5E-B9DAFBE5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C5146-2A63-477A-9074-61E5F3E4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AGENT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DB5D8-E656-4938-A964-2EA1F5D2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后半段把主流 Agent 范式讲简单：从自由对话，到流程中的智能节点。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C3EAC-B569-44EB-A6B2-958CC78C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ED27D-694C-4081-BAC8-9FE1A11C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FA8F6-186B-4D9E-A5B7-D7D95FDFE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8C13D4-B9A7-4600-9B82-91CA05AAE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FA9E72-9087-4730-BD2F-5292DD51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Single 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B3E105-4DC6-479A-8044-F6EC07113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一个模型调用工具完成任务。适合问题小、风险低、上下文边界清楚的场景。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16BB53-C9B9-4189-93D6-86BACE1C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916AA3-CF35-4954-B671-DF26A00D1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987E8A-B6D1-4DB2-BFC0-A8921BE29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Workflow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326504-F6F2-457F-AAE4-44F2C636D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固定步骤编排，输入输出可检查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适合财务和审计流程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AB06A-562B-44C6-8F7E-AF800CC6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904E45-E986-4393-BDDD-2A2AB244F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57451A-DF09-4814-8C61-4F91D313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Multi-Agent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6CD28-C61E-4A5A-BE0D-790686EEE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用角色拆分任务，例如事实提取、合规判断、复核质疑。适合需要多视角检查的问题。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6D502C-8366-4452-9E82-5D83CE00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95450"/>
            <a:ext cx="23812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630B5E-B3E9-49DB-980E-408C9F75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95450"/>
            <a:ext cx="47625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8C5CCE-2322-4399-9B07-7D2E8B06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47850"/>
            <a:ext cx="20383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Human-in-the-loop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E8B6C-B9B7-4240-8F87-AF2A1130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52650"/>
            <a:ext cx="203835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低置信度、证据缺口和最终判断交给人</a:t>
            </a:r>
          </a:p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高责任业务必须保留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DE5EE0-3E2E-483E-9491-CB4573AF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29200"/>
            <a:ext cx="8572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BFDBF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53A2E-A60B-4224-9CF3-E52530FB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219700"/>
            <a:ext cx="766762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本项目组合：Workflow 定顺序，RAG 给证据，多 Agent 给视角，人工复核定责任。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2CCAD6-CD83-4D88-A83A-D34370CE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D5B1A9-2F25-4DBF-B648-5F2E30502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6929960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17D7C3-41AC-483D-892B-904ACC9C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5C3D70-4CE1-42A7-89F0-E99CED95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ARCHITECTURE 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95F7E5-BBE9-4084-BEC7-20CFF913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9600"/>
            <a:ext cx="8858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把架构讲成四层，听众就能理解它为什么比聊天机器人更可控。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F85400-D9E1-4520-8EBF-542FB628D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1950"/>
            <a:ext cx="1524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Speaker 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FE74BE-A00F-4246-8990-CEAF3E276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524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14618-8295-47DE-A433-219EE239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AD462F-761B-4D98-A21D-725BF4F1A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716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确定性外壳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603411-3358-4720-BA43-C3C7C149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733550"/>
            <a:ext cx="3333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CLI / Streamlit / Excel 模板 / cell_map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C0B50E-4774-42B2-B806-8EEE81BA9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43075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控制入口、输出格式和公式区写入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D9AD3E-F0B2-4342-AAF2-E18036BD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3365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4EFAF-3A76-4A3E-9139-55D2B466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证据层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809505-266C-4AD1-8E74-324373D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86050"/>
            <a:ext cx="3333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RAG / 关键词 fallback / 准则片段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712CB4-7607-4448-AE13-70F29EA8A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95575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让结论能回到材料和规则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12D2B-76C3-4A8F-98F6-1A113FD9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7945F2-0669-4644-AA9F-D378CC82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766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C3AED"/>
                </a:solidFill>
                <a:latin typeface="Microsoft YaHei"/>
                <a:ea typeface="Microsoft YaHei"/>
                <a:cs typeface="Microsoft YaHei"/>
              </a:rPr>
              <a:t>智能层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E0A164-474A-466B-B999-C277BB31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38550"/>
            <a:ext cx="3333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Data Extractor / Compliance Checker / Audit Partner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B16B11-30F7-4965-920A-BC78DB62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648075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把不同专业视角拆开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706703-3589-4532-A94D-76BEE426F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9620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EA3310-F014-412D-92FB-82E232B10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291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B45309"/>
                </a:solidFill>
                <a:latin typeface="Microsoft YaHei"/>
                <a:ea typeface="Microsoft YaHei"/>
                <a:cs typeface="Microsoft YaHei"/>
              </a:rPr>
              <a:t>治理层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20C1AA-2BCE-45AF-8A28-84D5988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591050"/>
            <a:ext cx="3333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mock 默认 / 权限 / 日志 / 人工复核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88B251-DBA4-4A99-AF15-AD348761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00575"/>
            <a:ext cx="3143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控制数据外发和责任边界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93EABE-D870-4DAE-8F2D-A2194482D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857D09-B11B-4D6C-BD5A-19C8A491F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7177625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293C1F-965E-452E-8B05-97A2F51D1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1f27dacd2149d0"/>
          <a:stretch xmlns:a="http://schemas.openxmlformats.org/drawingml/2006/main"/>
        </p:blipFill>
        <p:spPr>
          <a:xfrm xmlns:a="http://schemas.openxmlformats.org/drawingml/2006/main">
            <a:off x="876300" y="838200"/>
            <a:ext cx="1238250" cy="12382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624B25-1CD5-47CA-AD44-0EE0E88F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895350"/>
            <a:ext cx="8096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总结：能跑是第一步，可信才是财务 AI 的生产门槛。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FF8514-88FB-4EA6-BE49-E75820A2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790700"/>
            <a:ext cx="7810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这个项目的价值不是证明 Agent 可以全自动审计，而是证明它能在确定流程里承担可复核的高频工作。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A1ADB-B3BE-4C73-B582-27196B27D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965CD0-DA7A-4252-8D3A-DDFF8249B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BE35E9-ADAB-42B8-9E46-F61B500F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评测器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545AA-A372-489F-B03A-88075B81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合成数据 + Precision / Recall / 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678F39-D7EE-4F5D-84C7-BB859B036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6259D2-8AB8-412A-A1A5-5E9B416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F618DC-196E-4036-96B6-5F16DC89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对比实验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A131A-1600-4108-AA4A-6861B6D5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和真实审计师底稿做差异分析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D6C734-0A32-470A-98E3-8857B2B2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779EAB-46AB-4AC0-AAFA-7C85D7888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90EBD6-55F5-483D-BA75-4A635B70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底稿扩展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9F4645-56FE-48BB-BEC0-5769CDCEE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应收、存货、收入截止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617F69-8D12-41B8-A27E-195A5BD6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67050"/>
            <a:ext cx="2095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3E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1F7082-CE16-48C5-9786-3022C432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670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C288F2-2E45-427B-899E-8CEF3643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19450"/>
            <a:ext cx="1752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  <a:cs typeface="Microsoft YaHei"/>
              </a:rPr>
              <a:t>私有化治理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33E6C5-56FE-4FA7-BBFA-BEE9BB87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524250"/>
            <a:ext cx="17526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模型、权限、日志、审计轨迹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5A730F-F5AC-460B-A611-5F12F481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067300"/>
            <a:ext cx="9334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F33"/>
          </a:solidFill>
          <a:ln xmlns:a="http://schemas.openxmlformats.org/drawingml/2006/main" w="9525">
            <a:solidFill>
              <a:srgbClr val="1D4E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F7CBEC-5A5F-459F-A54F-8A8216801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76850"/>
            <a:ext cx="847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Q&amp;A 准备：为什么不全自动？怎么控幻觉？数据是否外发？谁承担最终责任？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990D3C-125A-4891-A251-6F99B42B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72250"/>
            <a:ext cx="5905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Cross-Border Audit Agent · 数字金融课堂展示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19C70C-3FD3-4A02-A455-DED6CA01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5436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35280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2026-06-05T04:14:33.1990000Z</dcterms:created>
  <dcterms:modified xsi:type="dcterms:W3CDTF">2026-06-05T04:14:33.1990000Z</dcterms:modified>
</coreProperties>
</file>